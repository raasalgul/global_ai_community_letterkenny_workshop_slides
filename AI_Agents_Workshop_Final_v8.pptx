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raasalgul/workshop_agentic_sde_workflow" TargetMode="External"/><Relationship Id="rId3" Type="http://schemas.openxmlformats.org/officeDocument/2006/relationships/hyperlink" Target="https://github.com/raasalgul/workshop_agentic_manager_workflow" TargetMode="External"/><Relationship Id="rId4" Type="http://schemas.openxmlformats.org/officeDocument/2006/relationships/hyperlink" Target="http://globalai.community/eventbadge/116359" TargetMode="External"/><Relationship Id="rId5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github/spec-kit" TargetMode="External"/><Relationship Id="rId3" Type="http://schemas.openxmlformats.org/officeDocument/2006/relationships/hyperlink" Target="https://github.com/gsd-build/get-shit-done" TargetMode="External"/><Relationship Id="rId4" Type="http://schemas.openxmlformats.org/officeDocument/2006/relationships/hyperlink" Target="https://github.com/github/awesome-copilot" TargetMode="Externa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ounded Rectangle 1"/>
          <p:cNvSpPr/>
          <p:nvPr/>
        </p:nvSpPr>
        <p:spPr>
          <a:xfrm>
            <a:off x="502919" y="640080"/>
            <a:ext cx="6400801" cy="5394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ounded Rectangle 2"/>
          <p:cNvSpPr/>
          <p:nvPr/>
        </p:nvSpPr>
        <p:spPr>
          <a:xfrm>
            <a:off x="7132319" y="640080"/>
            <a:ext cx="4526281" cy="53949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>
            <a:solidFill>
              <a:srgbClr val="EFF6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914400" y="848359"/>
            <a:ext cx="5577840" cy="1183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8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AI Agents</a:t>
            </a:r>
          </a:p>
          <a:p>
            <a:pPr>
              <a:defRPr b="1" sz="2200">
                <a:solidFill>
                  <a:srgbClr val="2563EB"/>
                </a:solidFill>
                <a:latin typeface="Aptos Display"/>
                <a:ea typeface="Aptos Display"/>
                <a:cs typeface="Aptos Display"/>
                <a:sym typeface="Aptos Display"/>
              </a:defRPr>
            </a:pPr>
            <a:r>
              <a:t>From chatbot thinking to multi-agent workflows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960119" y="2118360"/>
            <a:ext cx="42355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4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 practical workshop on how agents help technical </a:t>
            </a:r>
          </a:p>
          <a:p>
            <a:pPr>
              <a:defRPr sz="14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and non-technical teams turn ideas into real outputs.</a:t>
            </a:r>
          </a:p>
        </p:txBody>
      </p:sp>
      <p:grpSp>
        <p:nvGrpSpPr>
          <p:cNvPr id="100" name="Rounded Rectangle 5"/>
          <p:cNvGrpSpPr/>
          <p:nvPr/>
        </p:nvGrpSpPr>
        <p:grpSpPr>
          <a:xfrm>
            <a:off x="914400" y="2880360"/>
            <a:ext cx="1115568" cy="384049"/>
            <a:chOff x="0" y="0"/>
            <a:chExt cx="1115567" cy="384047"/>
          </a:xfrm>
        </p:grpSpPr>
        <p:sp>
          <p:nvSpPr>
            <p:cNvPr id="98" name="Rounded Rectangle"/>
            <p:cNvSpPr/>
            <p:nvPr/>
          </p:nvSpPr>
          <p:spPr>
            <a:xfrm>
              <a:off x="0" y="0"/>
              <a:ext cx="1115568" cy="384048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9" name="Developers"/>
            <p:cNvSpPr txBox="1"/>
            <p:nvPr/>
          </p:nvSpPr>
          <p:spPr>
            <a:xfrm>
              <a:off x="69230" y="63754"/>
              <a:ext cx="977108" cy="256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1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Developers</a:t>
              </a:r>
            </a:p>
          </p:txBody>
        </p:sp>
      </p:grpSp>
      <p:grpSp>
        <p:nvGrpSpPr>
          <p:cNvPr id="103" name="Rounded Rectangle 6"/>
          <p:cNvGrpSpPr/>
          <p:nvPr/>
        </p:nvGrpSpPr>
        <p:grpSpPr>
          <a:xfrm>
            <a:off x="2167127" y="2880360"/>
            <a:ext cx="1097282" cy="384049"/>
            <a:chOff x="0" y="0"/>
            <a:chExt cx="1097280" cy="384047"/>
          </a:xfrm>
        </p:grpSpPr>
        <p:sp>
          <p:nvSpPr>
            <p:cNvPr id="101" name="Rounded Rectangle"/>
            <p:cNvSpPr/>
            <p:nvPr/>
          </p:nvSpPr>
          <p:spPr>
            <a:xfrm>
              <a:off x="0" y="0"/>
              <a:ext cx="1097281" cy="384048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9525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2" name="Managers"/>
            <p:cNvSpPr txBox="1"/>
            <p:nvPr/>
          </p:nvSpPr>
          <p:spPr>
            <a:xfrm>
              <a:off x="69230" y="63754"/>
              <a:ext cx="958820" cy="256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1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Managers</a:t>
              </a:r>
            </a:p>
          </p:txBody>
        </p:sp>
      </p:grpSp>
      <p:grpSp>
        <p:nvGrpSpPr>
          <p:cNvPr id="106" name="Rounded Rectangle 7"/>
          <p:cNvGrpSpPr/>
          <p:nvPr/>
        </p:nvGrpSpPr>
        <p:grpSpPr>
          <a:xfrm>
            <a:off x="3401567" y="2880360"/>
            <a:ext cx="1197865" cy="384049"/>
            <a:chOff x="0" y="0"/>
            <a:chExt cx="1197863" cy="384047"/>
          </a:xfrm>
        </p:grpSpPr>
        <p:sp>
          <p:nvSpPr>
            <p:cNvPr id="104" name="Rounded Rectangle"/>
            <p:cNvSpPr/>
            <p:nvPr/>
          </p:nvSpPr>
          <p:spPr>
            <a:xfrm>
              <a:off x="0" y="0"/>
              <a:ext cx="1197864" cy="384048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9525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5" name="Multi-agent"/>
            <p:cNvSpPr txBox="1"/>
            <p:nvPr/>
          </p:nvSpPr>
          <p:spPr>
            <a:xfrm>
              <a:off x="69230" y="63754"/>
              <a:ext cx="1059404" cy="256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1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Multi-agent</a:t>
              </a:r>
            </a:p>
          </p:txBody>
        </p:sp>
      </p:grpSp>
      <p:grpSp>
        <p:nvGrpSpPr>
          <p:cNvPr id="109" name="Rounded Rectangle 8"/>
          <p:cNvGrpSpPr/>
          <p:nvPr/>
        </p:nvGrpSpPr>
        <p:grpSpPr>
          <a:xfrm>
            <a:off x="4736591" y="2880360"/>
            <a:ext cx="1362457" cy="384049"/>
            <a:chOff x="0" y="0"/>
            <a:chExt cx="1362455" cy="384047"/>
          </a:xfrm>
        </p:grpSpPr>
        <p:sp>
          <p:nvSpPr>
            <p:cNvPr id="107" name="Rounded Rectangle"/>
            <p:cNvSpPr/>
            <p:nvPr/>
          </p:nvSpPr>
          <p:spPr>
            <a:xfrm>
              <a:off x="0" y="0"/>
              <a:ext cx="1362456" cy="384048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8" name="Context-aware"/>
            <p:cNvSpPr txBox="1"/>
            <p:nvPr/>
          </p:nvSpPr>
          <p:spPr>
            <a:xfrm>
              <a:off x="69230" y="63754"/>
              <a:ext cx="1223996" cy="256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1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Context-aware</a:t>
              </a:r>
            </a:p>
          </p:txBody>
        </p:sp>
      </p:grpSp>
      <p:grpSp>
        <p:nvGrpSpPr>
          <p:cNvPr id="112" name="Rounded Rectangle 9"/>
          <p:cNvGrpSpPr/>
          <p:nvPr/>
        </p:nvGrpSpPr>
        <p:grpSpPr>
          <a:xfrm>
            <a:off x="914400" y="3383279"/>
            <a:ext cx="1115568" cy="384049"/>
            <a:chOff x="0" y="0"/>
            <a:chExt cx="1115567" cy="384047"/>
          </a:xfrm>
        </p:grpSpPr>
        <p:sp>
          <p:nvSpPr>
            <p:cNvPr id="110" name="Rounded Rectangle"/>
            <p:cNvSpPr/>
            <p:nvPr/>
          </p:nvSpPr>
          <p:spPr>
            <a:xfrm>
              <a:off x="0" y="0"/>
              <a:ext cx="1115568" cy="384048"/>
            </a:xfrm>
            <a:prstGeom prst="roundRect">
              <a:avLst>
                <a:gd name="adj" fmla="val 16667"/>
              </a:avLst>
            </a:prstGeom>
            <a:solidFill>
              <a:srgbClr val="FFF7ED"/>
            </a:solidFill>
            <a:ln w="9525" cap="flat">
              <a:solidFill>
                <a:srgbClr val="EA580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1" name="Cost-aware"/>
            <p:cNvSpPr txBox="1"/>
            <p:nvPr/>
          </p:nvSpPr>
          <p:spPr>
            <a:xfrm>
              <a:off x="69230" y="63754"/>
              <a:ext cx="977108" cy="2565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100">
                  <a:solidFill>
                    <a:srgbClr val="EA580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Cost-aware</a:t>
              </a:r>
            </a:p>
          </p:txBody>
        </p:sp>
      </p:grpSp>
      <p:grpSp>
        <p:nvGrpSpPr>
          <p:cNvPr id="115" name="Rounded Rectangle 10"/>
          <p:cNvGrpSpPr/>
          <p:nvPr/>
        </p:nvGrpSpPr>
        <p:grpSpPr>
          <a:xfrm>
            <a:off x="7680959" y="1143000"/>
            <a:ext cx="3474721" cy="594360"/>
            <a:chOff x="0" y="0"/>
            <a:chExt cx="3474720" cy="594359"/>
          </a:xfrm>
        </p:grpSpPr>
        <p:sp>
          <p:nvSpPr>
            <p:cNvPr id="113" name="Rounded Rectangle"/>
            <p:cNvSpPr/>
            <p:nvPr/>
          </p:nvSpPr>
          <p:spPr>
            <a:xfrm>
              <a:off x="0" y="0"/>
              <a:ext cx="3474721" cy="594360"/>
            </a:xfrm>
            <a:prstGeom prst="roundRect">
              <a:avLst>
                <a:gd name="adj" fmla="val 16667"/>
              </a:avLst>
            </a:prstGeom>
            <a:solidFill>
              <a:srgbClr val="F3F4F6"/>
            </a:solidFill>
            <a:ln w="9525" cap="flat">
              <a:solidFill>
                <a:srgbClr val="1F29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4" name="Chatbot"/>
            <p:cNvSpPr txBox="1"/>
            <p:nvPr/>
          </p:nvSpPr>
          <p:spPr>
            <a:xfrm>
              <a:off x="79496" y="137160"/>
              <a:ext cx="3315728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Chatbot</a:t>
              </a:r>
            </a:p>
          </p:txBody>
        </p:sp>
      </p:grpSp>
      <p:sp>
        <p:nvSpPr>
          <p:cNvPr id="116" name="Chevron 11"/>
          <p:cNvSpPr/>
          <p:nvPr/>
        </p:nvSpPr>
        <p:spPr>
          <a:xfrm>
            <a:off x="9098280" y="1856232"/>
            <a:ext cx="685801" cy="237745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19" name="Rounded Rectangle 12"/>
          <p:cNvGrpSpPr/>
          <p:nvPr/>
        </p:nvGrpSpPr>
        <p:grpSpPr>
          <a:xfrm>
            <a:off x="7680959" y="2011679"/>
            <a:ext cx="3474721" cy="594361"/>
            <a:chOff x="0" y="0"/>
            <a:chExt cx="3474720" cy="594359"/>
          </a:xfrm>
        </p:grpSpPr>
        <p:sp>
          <p:nvSpPr>
            <p:cNvPr id="117" name="Rounded Rectangle"/>
            <p:cNvSpPr/>
            <p:nvPr/>
          </p:nvSpPr>
          <p:spPr>
            <a:xfrm>
              <a:off x="0" y="0"/>
              <a:ext cx="3474721" cy="59436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8" name="Assistant"/>
            <p:cNvSpPr txBox="1"/>
            <p:nvPr/>
          </p:nvSpPr>
          <p:spPr>
            <a:xfrm>
              <a:off x="79496" y="137160"/>
              <a:ext cx="3315728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Assistant</a:t>
              </a:r>
            </a:p>
          </p:txBody>
        </p:sp>
      </p:grpSp>
      <p:sp>
        <p:nvSpPr>
          <p:cNvPr id="120" name="Chevron 13"/>
          <p:cNvSpPr/>
          <p:nvPr/>
        </p:nvSpPr>
        <p:spPr>
          <a:xfrm>
            <a:off x="9098280" y="2724911"/>
            <a:ext cx="685801" cy="237745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23" name="Rounded Rectangle 14"/>
          <p:cNvGrpSpPr/>
          <p:nvPr/>
        </p:nvGrpSpPr>
        <p:grpSpPr>
          <a:xfrm>
            <a:off x="7680959" y="2880360"/>
            <a:ext cx="3474721" cy="594361"/>
            <a:chOff x="0" y="0"/>
            <a:chExt cx="3474720" cy="594359"/>
          </a:xfrm>
        </p:grpSpPr>
        <p:sp>
          <p:nvSpPr>
            <p:cNvPr id="121" name="Rounded Rectangle"/>
            <p:cNvSpPr/>
            <p:nvPr/>
          </p:nvSpPr>
          <p:spPr>
            <a:xfrm>
              <a:off x="0" y="0"/>
              <a:ext cx="3474721" cy="594360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9525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RAG"/>
            <p:cNvSpPr txBox="1"/>
            <p:nvPr/>
          </p:nvSpPr>
          <p:spPr>
            <a:xfrm>
              <a:off x="79496" y="137160"/>
              <a:ext cx="3315728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RAG</a:t>
              </a:r>
            </a:p>
          </p:txBody>
        </p:sp>
      </p:grpSp>
      <p:sp>
        <p:nvSpPr>
          <p:cNvPr id="124" name="Chevron 15"/>
          <p:cNvSpPr/>
          <p:nvPr/>
        </p:nvSpPr>
        <p:spPr>
          <a:xfrm>
            <a:off x="9098280" y="3593591"/>
            <a:ext cx="685801" cy="237745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27" name="Rounded Rectangle 16"/>
          <p:cNvGrpSpPr/>
          <p:nvPr/>
        </p:nvGrpSpPr>
        <p:grpSpPr>
          <a:xfrm>
            <a:off x="7680959" y="3749040"/>
            <a:ext cx="3474721" cy="594361"/>
            <a:chOff x="0" y="0"/>
            <a:chExt cx="3474720" cy="594359"/>
          </a:xfrm>
        </p:grpSpPr>
        <p:sp>
          <p:nvSpPr>
            <p:cNvPr id="125" name="Rounded Rectangle"/>
            <p:cNvSpPr/>
            <p:nvPr/>
          </p:nvSpPr>
          <p:spPr>
            <a:xfrm>
              <a:off x="0" y="0"/>
              <a:ext cx="3474721" cy="59436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6" name="Agent"/>
            <p:cNvSpPr txBox="1"/>
            <p:nvPr/>
          </p:nvSpPr>
          <p:spPr>
            <a:xfrm>
              <a:off x="79496" y="137160"/>
              <a:ext cx="3315728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Agent</a:t>
              </a:r>
            </a:p>
          </p:txBody>
        </p:sp>
      </p:grpSp>
      <p:sp>
        <p:nvSpPr>
          <p:cNvPr id="128" name="Chevron 17"/>
          <p:cNvSpPr/>
          <p:nvPr/>
        </p:nvSpPr>
        <p:spPr>
          <a:xfrm>
            <a:off x="9098280" y="4462271"/>
            <a:ext cx="685801" cy="237745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31" name="Rounded Rectangle 18"/>
          <p:cNvGrpSpPr/>
          <p:nvPr/>
        </p:nvGrpSpPr>
        <p:grpSpPr>
          <a:xfrm>
            <a:off x="7680959" y="4617720"/>
            <a:ext cx="3474721" cy="594361"/>
            <a:chOff x="0" y="0"/>
            <a:chExt cx="3474720" cy="594359"/>
          </a:xfrm>
        </p:grpSpPr>
        <p:sp>
          <p:nvSpPr>
            <p:cNvPr id="129" name="Rounded Rectangle"/>
            <p:cNvSpPr/>
            <p:nvPr/>
          </p:nvSpPr>
          <p:spPr>
            <a:xfrm>
              <a:off x="0" y="0"/>
              <a:ext cx="3474721" cy="594360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9525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30" name="Multi-agent"/>
            <p:cNvSpPr txBox="1"/>
            <p:nvPr/>
          </p:nvSpPr>
          <p:spPr>
            <a:xfrm>
              <a:off x="79496" y="137160"/>
              <a:ext cx="3315728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Multi-agent</a:t>
              </a:r>
            </a:p>
          </p:txBody>
        </p:sp>
      </p:grpSp>
      <p:sp>
        <p:nvSpPr>
          <p:cNvPr id="132" name="TextBox 19"/>
          <p:cNvSpPr txBox="1"/>
          <p:nvPr/>
        </p:nvSpPr>
        <p:spPr>
          <a:xfrm>
            <a:off x="960119" y="5486399"/>
            <a:ext cx="439064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1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For developers, managers, and technical &amp; non-technical participants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2"/>
          <p:cNvSpPr txBox="1"/>
          <p:nvPr/>
        </p:nvSpPr>
        <p:spPr>
          <a:xfrm>
            <a:off x="594359" y="310895"/>
            <a:ext cx="80698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OPENING</a:t>
            </a:r>
          </a:p>
        </p:txBody>
      </p:sp>
      <p:sp>
        <p:nvSpPr>
          <p:cNvPr id="136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Sponsors &amp; community support</a:t>
            </a:r>
          </a:p>
        </p:txBody>
      </p:sp>
      <p:sp>
        <p:nvSpPr>
          <p:cNvPr id="137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Recognising the organisations behind this workshop</a:t>
            </a:r>
          </a:p>
        </p:txBody>
      </p:sp>
      <p:sp>
        <p:nvSpPr>
          <p:cNvPr id="138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139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02</a:t>
            </a:r>
          </a:p>
        </p:txBody>
      </p:sp>
      <p:grpSp>
        <p:nvGrpSpPr>
          <p:cNvPr id="142" name="Rounded Rectangle 7"/>
          <p:cNvGrpSpPr/>
          <p:nvPr/>
        </p:nvGrpSpPr>
        <p:grpSpPr>
          <a:xfrm>
            <a:off x="731519" y="1508760"/>
            <a:ext cx="5257801" cy="1874519"/>
            <a:chOff x="0" y="0"/>
            <a:chExt cx="5257800" cy="1874518"/>
          </a:xfrm>
        </p:grpSpPr>
        <p:sp>
          <p:nvSpPr>
            <p:cNvPr id="140" name="Rounded Rectangle"/>
            <p:cNvSpPr/>
            <p:nvPr/>
          </p:nvSpPr>
          <p:spPr>
            <a:xfrm>
              <a:off x="0" y="0"/>
              <a:ext cx="5257800" cy="1874519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12700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1" name="Main sponsor…"/>
            <p:cNvSpPr txBox="1"/>
            <p:nvPr/>
          </p:nvSpPr>
          <p:spPr>
            <a:xfrm>
              <a:off x="123256" y="562608"/>
              <a:ext cx="5011288" cy="74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Main sponsor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Optum / UHC Tech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Supporting the workshop and enabling practical AI learning for teams.</a:t>
              </a:r>
            </a:p>
          </p:txBody>
        </p:sp>
      </p:grpSp>
      <p:grpSp>
        <p:nvGrpSpPr>
          <p:cNvPr id="145" name="Rounded Rectangle 8"/>
          <p:cNvGrpSpPr/>
          <p:nvPr/>
        </p:nvGrpSpPr>
        <p:grpSpPr>
          <a:xfrm>
            <a:off x="6172200" y="1508760"/>
            <a:ext cx="5257800" cy="1874519"/>
            <a:chOff x="0" y="0"/>
            <a:chExt cx="5257800" cy="1874518"/>
          </a:xfrm>
        </p:grpSpPr>
        <p:sp>
          <p:nvSpPr>
            <p:cNvPr id="143" name="Rounded Rectangle"/>
            <p:cNvSpPr/>
            <p:nvPr/>
          </p:nvSpPr>
          <p:spPr>
            <a:xfrm>
              <a:off x="0" y="0"/>
              <a:ext cx="5257800" cy="1874519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12700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4" name="Community representation…"/>
            <p:cNvSpPr txBox="1"/>
            <p:nvPr/>
          </p:nvSpPr>
          <p:spPr>
            <a:xfrm>
              <a:off x="123256" y="562608"/>
              <a:ext cx="5011288" cy="74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Community representation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Global AI Community Letterkenny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Connecting local participants to a wider AI learning community.</a:t>
              </a:r>
            </a:p>
          </p:txBody>
        </p:sp>
      </p:grpSp>
      <p:grpSp>
        <p:nvGrpSpPr>
          <p:cNvPr id="148" name="Rounded Rectangle 9"/>
          <p:cNvGrpSpPr/>
          <p:nvPr/>
        </p:nvGrpSpPr>
        <p:grpSpPr>
          <a:xfrm>
            <a:off x="731519" y="3749038"/>
            <a:ext cx="10698482" cy="1234441"/>
            <a:chOff x="0" y="0"/>
            <a:chExt cx="10698480" cy="1234439"/>
          </a:xfrm>
        </p:grpSpPr>
        <p:sp>
          <p:nvSpPr>
            <p:cNvPr id="146" name="Rounded Rectangle"/>
            <p:cNvSpPr/>
            <p:nvPr/>
          </p:nvSpPr>
          <p:spPr>
            <a:xfrm>
              <a:off x="0" y="0"/>
              <a:ext cx="10698481" cy="123444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47" name="Why this matters…"/>
            <p:cNvSpPr txBox="1"/>
            <p:nvPr/>
          </p:nvSpPr>
          <p:spPr>
            <a:xfrm>
              <a:off x="92009" y="325119"/>
              <a:ext cx="1051446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Why this matters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This workshop combines enterprise perspective + community learning to show how agentic workflows can be applied in real work.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TextBox 2"/>
          <p:cNvSpPr txBox="1"/>
          <p:nvPr/>
        </p:nvSpPr>
        <p:spPr>
          <a:xfrm>
            <a:off x="594359" y="310895"/>
            <a:ext cx="80698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OPENING</a:t>
            </a:r>
          </a:p>
        </p:txBody>
      </p:sp>
      <p:sp>
        <p:nvSpPr>
          <p:cNvPr id="152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About the speaker</a:t>
            </a:r>
          </a:p>
        </p:txBody>
      </p:sp>
      <p:sp>
        <p:nvSpPr>
          <p:cNvPr id="153" name="TextBox 4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154" name="TextBox 5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03</a:t>
            </a:r>
          </a:p>
        </p:txBody>
      </p:sp>
      <p:grpSp>
        <p:nvGrpSpPr>
          <p:cNvPr id="157" name="Rounded Rectangle 6"/>
          <p:cNvGrpSpPr/>
          <p:nvPr/>
        </p:nvGrpSpPr>
        <p:grpSpPr>
          <a:xfrm>
            <a:off x="731519" y="1417319"/>
            <a:ext cx="6949442" cy="3566161"/>
            <a:chOff x="0" y="0"/>
            <a:chExt cx="6949440" cy="3566159"/>
          </a:xfrm>
        </p:grpSpPr>
        <p:sp>
          <p:nvSpPr>
            <p:cNvPr id="155" name="Rounded Rectangle"/>
            <p:cNvSpPr/>
            <p:nvPr/>
          </p:nvSpPr>
          <p:spPr>
            <a:xfrm>
              <a:off x="0" y="0"/>
              <a:ext cx="6949441" cy="35661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6" name="Sathish Kumar Krisnamoorthy…"/>
            <p:cNvSpPr txBox="1"/>
            <p:nvPr/>
          </p:nvSpPr>
          <p:spPr>
            <a:xfrm>
              <a:off x="205835" y="1243329"/>
              <a:ext cx="6537770" cy="1079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Sathish Kumar Krisnamoorthy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Senior Software Engineer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Optum Letterkenny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Focus areas: Software Engineering, Cloud, Data Engineering, and AI LLM technology.</a:t>
              </a:r>
            </a:p>
          </p:txBody>
        </p:sp>
      </p:grpSp>
      <p:grpSp>
        <p:nvGrpSpPr>
          <p:cNvPr id="160" name="Rounded Rectangle 7"/>
          <p:cNvGrpSpPr/>
          <p:nvPr/>
        </p:nvGrpSpPr>
        <p:grpSpPr>
          <a:xfrm>
            <a:off x="1005839" y="4389120"/>
            <a:ext cx="1691641" cy="329185"/>
            <a:chOff x="0" y="0"/>
            <a:chExt cx="1691639" cy="329184"/>
          </a:xfrm>
        </p:grpSpPr>
        <p:sp>
          <p:nvSpPr>
            <p:cNvPr id="158" name="Rounded Rectangle"/>
            <p:cNvSpPr/>
            <p:nvPr/>
          </p:nvSpPr>
          <p:spPr>
            <a:xfrm>
              <a:off x="0" y="0"/>
              <a:ext cx="1691640" cy="329185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59" name="Software Engineer"/>
            <p:cNvSpPr txBox="1"/>
            <p:nvPr/>
          </p:nvSpPr>
          <p:spPr>
            <a:xfrm>
              <a:off x="66551" y="42672"/>
              <a:ext cx="1558538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Software Engineer</a:t>
              </a:r>
            </a:p>
          </p:txBody>
        </p:sp>
      </p:grpSp>
      <p:grpSp>
        <p:nvGrpSpPr>
          <p:cNvPr id="163" name="Rounded Rectangle 8"/>
          <p:cNvGrpSpPr/>
          <p:nvPr/>
        </p:nvGrpSpPr>
        <p:grpSpPr>
          <a:xfrm>
            <a:off x="2834639" y="4389120"/>
            <a:ext cx="1783081" cy="329185"/>
            <a:chOff x="0" y="0"/>
            <a:chExt cx="1783079" cy="329184"/>
          </a:xfrm>
        </p:grpSpPr>
        <p:sp>
          <p:nvSpPr>
            <p:cNvPr id="161" name="Rounded Rectangle"/>
            <p:cNvSpPr/>
            <p:nvPr/>
          </p:nvSpPr>
          <p:spPr>
            <a:xfrm>
              <a:off x="0" y="0"/>
              <a:ext cx="1783080" cy="329185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9525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2" name="Cloud &amp; Automation"/>
            <p:cNvSpPr txBox="1"/>
            <p:nvPr/>
          </p:nvSpPr>
          <p:spPr>
            <a:xfrm>
              <a:off x="66551" y="42672"/>
              <a:ext cx="1649977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Cloud &amp; Automation</a:t>
              </a:r>
            </a:p>
          </p:txBody>
        </p:sp>
      </p:grpSp>
      <p:grpSp>
        <p:nvGrpSpPr>
          <p:cNvPr id="166" name="Rounded Rectangle 9"/>
          <p:cNvGrpSpPr/>
          <p:nvPr/>
        </p:nvGrpSpPr>
        <p:grpSpPr>
          <a:xfrm>
            <a:off x="4800600" y="4389120"/>
            <a:ext cx="1234440" cy="329185"/>
            <a:chOff x="0" y="0"/>
            <a:chExt cx="1234439" cy="329184"/>
          </a:xfrm>
        </p:grpSpPr>
        <p:sp>
          <p:nvSpPr>
            <p:cNvPr id="164" name="Rounded Rectangle"/>
            <p:cNvSpPr/>
            <p:nvPr/>
          </p:nvSpPr>
          <p:spPr>
            <a:xfrm>
              <a:off x="0" y="0"/>
              <a:ext cx="1234440" cy="329185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9525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5" name="Data Engineer"/>
            <p:cNvSpPr txBox="1"/>
            <p:nvPr/>
          </p:nvSpPr>
          <p:spPr>
            <a:xfrm>
              <a:off x="66551" y="42672"/>
              <a:ext cx="1101338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Data Engineer</a:t>
              </a:r>
            </a:p>
          </p:txBody>
        </p:sp>
      </p:grpSp>
      <p:grpSp>
        <p:nvGrpSpPr>
          <p:cNvPr id="169" name="Rounded Rectangle 10"/>
          <p:cNvGrpSpPr/>
          <p:nvPr/>
        </p:nvGrpSpPr>
        <p:grpSpPr>
          <a:xfrm>
            <a:off x="8001000" y="1417319"/>
            <a:ext cx="3429000" cy="3566161"/>
            <a:chOff x="0" y="0"/>
            <a:chExt cx="3429000" cy="3566159"/>
          </a:xfrm>
        </p:grpSpPr>
        <p:sp>
          <p:nvSpPr>
            <p:cNvPr id="167" name="Rounded Rectangle"/>
            <p:cNvSpPr/>
            <p:nvPr/>
          </p:nvSpPr>
          <p:spPr>
            <a:xfrm>
              <a:off x="0" y="0"/>
              <a:ext cx="3429000" cy="356616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2700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68" name="Workshop links…"/>
            <p:cNvSpPr txBox="1"/>
            <p:nvPr/>
          </p:nvSpPr>
          <p:spPr>
            <a:xfrm>
              <a:off x="123277" y="227329"/>
              <a:ext cx="3196518" cy="201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Workshop links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2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rPr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hlinkClick r:id="rId2" invalidUrl="" action="" tgtFrame="" tooltip="" history="1" highlightClick="0" endSnd="0"/>
                </a:rPr>
                <a:t>https://github.com/raasalgul/workshop_agentic_sde_workflow</a:t>
              </a:r>
            </a:p>
            <a:p>
              <a:pPr>
                <a:defRPr sz="12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2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rPr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hlinkClick r:id="rId3" invalidUrl="" action="" tgtFrame="" tooltip="" history="1" highlightClick="0" endSnd="0"/>
                </a:rPr>
                <a:t>https://github.com/raasalgul/workshop_agentic_manager_workflow</a:t>
              </a:r>
            </a:p>
            <a:p>
              <a:pPr>
                <a:defRPr sz="12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2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rPr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hlinkClick r:id="rId4" invalidUrl="" action="" tgtFrame="" tooltip="" history="1" highlightClick="0" endSnd="0"/>
                </a:rPr>
                <a:t>http://globalai.community/eventbadge/116359</a:t>
              </a:r>
            </a:p>
          </p:txBody>
        </p:sp>
      </p:grpSp>
      <p:pic>
        <p:nvPicPr>
          <p:cNvPr id="170" name="https_github_com_raasalgul_global_ai_community_letterkenny_workshop_slides.png" descr="https_github_com_raasalgul_global_ai_community_letterkenny_workshop_slides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0449336" y="5220263"/>
            <a:ext cx="1562369" cy="156236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2"/>
          <p:cNvSpPr txBox="1"/>
          <p:nvPr/>
        </p:nvSpPr>
        <p:spPr>
          <a:xfrm>
            <a:off x="594359" y="310895"/>
            <a:ext cx="57823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INTRO</a:t>
            </a:r>
          </a:p>
        </p:txBody>
      </p:sp>
      <p:sp>
        <p:nvSpPr>
          <p:cNvPr id="174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Workshop objective</a:t>
            </a:r>
          </a:p>
        </p:txBody>
      </p:sp>
      <p:sp>
        <p:nvSpPr>
          <p:cNvPr id="175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Show how multi-agent workflows help both technical and non-technical participants</a:t>
            </a:r>
          </a:p>
        </p:txBody>
      </p:sp>
      <p:sp>
        <p:nvSpPr>
          <p:cNvPr id="176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177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04</a:t>
            </a:r>
          </a:p>
        </p:txBody>
      </p:sp>
      <p:grpSp>
        <p:nvGrpSpPr>
          <p:cNvPr id="180" name="Rounded Rectangle 7"/>
          <p:cNvGrpSpPr/>
          <p:nvPr/>
        </p:nvGrpSpPr>
        <p:grpSpPr>
          <a:xfrm>
            <a:off x="731519" y="1463039"/>
            <a:ext cx="3474722" cy="3611881"/>
            <a:chOff x="0" y="0"/>
            <a:chExt cx="3474720" cy="3611879"/>
          </a:xfrm>
        </p:grpSpPr>
        <p:sp>
          <p:nvSpPr>
            <p:cNvPr id="178" name="Rounded Rectangle"/>
            <p:cNvSpPr/>
            <p:nvPr/>
          </p:nvSpPr>
          <p:spPr>
            <a:xfrm>
              <a:off x="0" y="0"/>
              <a:ext cx="3474721" cy="36118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79" name="For developers…"/>
            <p:cNvSpPr txBox="1"/>
            <p:nvPr/>
          </p:nvSpPr>
          <p:spPr>
            <a:xfrm>
              <a:off x="201371" y="1348740"/>
              <a:ext cx="3071978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For developers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 agents to clarify requirements, build software, organise work, and accelerate delivery.</a:t>
              </a:r>
            </a:p>
          </p:txBody>
        </p:sp>
      </p:grpSp>
      <p:grpSp>
        <p:nvGrpSpPr>
          <p:cNvPr id="183" name="Rounded Rectangle 8"/>
          <p:cNvGrpSpPr/>
          <p:nvPr/>
        </p:nvGrpSpPr>
        <p:grpSpPr>
          <a:xfrm>
            <a:off x="4361688" y="1463039"/>
            <a:ext cx="3474721" cy="3611881"/>
            <a:chOff x="0" y="0"/>
            <a:chExt cx="3474720" cy="3611879"/>
          </a:xfrm>
        </p:grpSpPr>
        <p:sp>
          <p:nvSpPr>
            <p:cNvPr id="181" name="Rounded Rectangle"/>
            <p:cNvSpPr/>
            <p:nvPr/>
          </p:nvSpPr>
          <p:spPr>
            <a:xfrm>
              <a:off x="0" y="0"/>
              <a:ext cx="3474721" cy="36118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2" name="For managers…"/>
            <p:cNvSpPr txBox="1"/>
            <p:nvPr/>
          </p:nvSpPr>
          <p:spPr>
            <a:xfrm>
              <a:off x="201371" y="1348740"/>
              <a:ext cx="3071978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For managers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 agents to turn meeting transcripts and unstructured input into structured actions and documents.</a:t>
              </a:r>
            </a:p>
          </p:txBody>
        </p:sp>
      </p:grpSp>
      <p:grpSp>
        <p:nvGrpSpPr>
          <p:cNvPr id="186" name="Rounded Rectangle 9"/>
          <p:cNvGrpSpPr/>
          <p:nvPr/>
        </p:nvGrpSpPr>
        <p:grpSpPr>
          <a:xfrm>
            <a:off x="7991856" y="1463039"/>
            <a:ext cx="3474721" cy="3611881"/>
            <a:chOff x="0" y="0"/>
            <a:chExt cx="3474720" cy="3611879"/>
          </a:xfrm>
        </p:grpSpPr>
        <p:sp>
          <p:nvSpPr>
            <p:cNvPr id="184" name="Rounded Rectangle"/>
            <p:cNvSpPr/>
            <p:nvPr/>
          </p:nvSpPr>
          <p:spPr>
            <a:xfrm>
              <a:off x="0" y="0"/>
              <a:ext cx="3474721" cy="3611880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12700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" name="What participants will see…"/>
            <p:cNvSpPr txBox="1"/>
            <p:nvPr/>
          </p:nvSpPr>
          <p:spPr>
            <a:xfrm>
              <a:off x="201371" y="1348740"/>
              <a:ext cx="3071978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What participants will see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Two live-style examples: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Business / manager workflow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Software product workflow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2"/>
          <p:cNvSpPr txBox="1"/>
          <p:nvPr/>
        </p:nvSpPr>
        <p:spPr>
          <a:xfrm>
            <a:off x="594359" y="310895"/>
            <a:ext cx="57823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INTRO</a:t>
            </a:r>
          </a:p>
        </p:txBody>
      </p:sp>
      <p:sp>
        <p:nvSpPr>
          <p:cNvPr id="190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Workshop flow</a:t>
            </a:r>
          </a:p>
        </p:txBody>
      </p:sp>
      <p:sp>
        <p:nvSpPr>
          <p:cNvPr id="191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One agenda. One clear story.</a:t>
            </a:r>
          </a:p>
        </p:txBody>
      </p:sp>
      <p:sp>
        <p:nvSpPr>
          <p:cNvPr id="192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193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05</a:t>
            </a:r>
          </a:p>
        </p:txBody>
      </p:sp>
      <p:grpSp>
        <p:nvGrpSpPr>
          <p:cNvPr id="196" name="Oval 7"/>
          <p:cNvGrpSpPr/>
          <p:nvPr/>
        </p:nvGrpSpPr>
        <p:grpSpPr>
          <a:xfrm>
            <a:off x="777240" y="2011679"/>
            <a:ext cx="438912" cy="438913"/>
            <a:chOff x="0" y="0"/>
            <a:chExt cx="438911" cy="438911"/>
          </a:xfrm>
        </p:grpSpPr>
        <p:sp>
          <p:nvSpPr>
            <p:cNvPr id="194" name="Circle"/>
            <p:cNvSpPr/>
            <p:nvPr/>
          </p:nvSpPr>
          <p:spPr>
            <a:xfrm>
              <a:off x="0" y="0"/>
              <a:ext cx="438912" cy="438912"/>
            </a:xfrm>
            <a:prstGeom prst="ellipse">
              <a:avLst/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5" name="1"/>
            <p:cNvSpPr txBox="1"/>
            <p:nvPr/>
          </p:nvSpPr>
          <p:spPr>
            <a:xfrm>
              <a:off x="114759" y="84836"/>
              <a:ext cx="209394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2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197" name="TextBox 8"/>
          <p:cNvSpPr txBox="1"/>
          <p:nvPr/>
        </p:nvSpPr>
        <p:spPr>
          <a:xfrm>
            <a:off x="647655" y="2560320"/>
            <a:ext cx="67065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Opening</a:t>
            </a:r>
          </a:p>
        </p:txBody>
      </p:sp>
      <p:grpSp>
        <p:nvGrpSpPr>
          <p:cNvPr id="200" name="Oval 9"/>
          <p:cNvGrpSpPr/>
          <p:nvPr/>
        </p:nvGrpSpPr>
        <p:grpSpPr>
          <a:xfrm>
            <a:off x="2377439" y="2011679"/>
            <a:ext cx="438913" cy="438913"/>
            <a:chOff x="0" y="0"/>
            <a:chExt cx="438911" cy="438911"/>
          </a:xfrm>
        </p:grpSpPr>
        <p:sp>
          <p:nvSpPr>
            <p:cNvPr id="198" name="Circle"/>
            <p:cNvSpPr/>
            <p:nvPr/>
          </p:nvSpPr>
          <p:spPr>
            <a:xfrm>
              <a:off x="0" y="0"/>
              <a:ext cx="438912" cy="438912"/>
            </a:xfrm>
            <a:prstGeom prst="ellipse">
              <a:avLst/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99" name="2"/>
            <p:cNvSpPr txBox="1"/>
            <p:nvPr/>
          </p:nvSpPr>
          <p:spPr>
            <a:xfrm>
              <a:off x="114759" y="84836"/>
              <a:ext cx="209394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2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201" name="TextBox 10"/>
          <p:cNvSpPr txBox="1"/>
          <p:nvPr/>
        </p:nvSpPr>
        <p:spPr>
          <a:xfrm>
            <a:off x="2139124" y="2560320"/>
            <a:ext cx="88811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Why agents</a:t>
            </a:r>
          </a:p>
        </p:txBody>
      </p:sp>
      <p:grpSp>
        <p:nvGrpSpPr>
          <p:cNvPr id="204" name="Oval 11"/>
          <p:cNvGrpSpPr/>
          <p:nvPr/>
        </p:nvGrpSpPr>
        <p:grpSpPr>
          <a:xfrm>
            <a:off x="3977639" y="2011679"/>
            <a:ext cx="438912" cy="438913"/>
            <a:chOff x="0" y="0"/>
            <a:chExt cx="438911" cy="438911"/>
          </a:xfrm>
        </p:grpSpPr>
        <p:sp>
          <p:nvSpPr>
            <p:cNvPr id="202" name="Circle"/>
            <p:cNvSpPr/>
            <p:nvPr/>
          </p:nvSpPr>
          <p:spPr>
            <a:xfrm>
              <a:off x="0" y="0"/>
              <a:ext cx="438912" cy="438912"/>
            </a:xfrm>
            <a:prstGeom prst="ellipse">
              <a:avLst/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3" name="3"/>
            <p:cNvSpPr txBox="1"/>
            <p:nvPr/>
          </p:nvSpPr>
          <p:spPr>
            <a:xfrm>
              <a:off x="114759" y="84836"/>
              <a:ext cx="209394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2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205" name="TextBox 12"/>
          <p:cNvSpPr txBox="1"/>
          <p:nvPr/>
        </p:nvSpPr>
        <p:spPr>
          <a:xfrm>
            <a:off x="3556888" y="2560320"/>
            <a:ext cx="125298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agents work</a:t>
            </a:r>
          </a:p>
        </p:txBody>
      </p:sp>
      <p:grpSp>
        <p:nvGrpSpPr>
          <p:cNvPr id="208" name="Oval 13"/>
          <p:cNvGrpSpPr/>
          <p:nvPr/>
        </p:nvGrpSpPr>
        <p:grpSpPr>
          <a:xfrm>
            <a:off x="5577840" y="2011679"/>
            <a:ext cx="438913" cy="438913"/>
            <a:chOff x="0" y="0"/>
            <a:chExt cx="438911" cy="438911"/>
          </a:xfrm>
        </p:grpSpPr>
        <p:sp>
          <p:nvSpPr>
            <p:cNvPr id="206" name="Circle"/>
            <p:cNvSpPr/>
            <p:nvPr/>
          </p:nvSpPr>
          <p:spPr>
            <a:xfrm>
              <a:off x="0" y="0"/>
              <a:ext cx="438912" cy="438912"/>
            </a:xfrm>
            <a:prstGeom prst="ellipse">
              <a:avLst/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07" name="4"/>
            <p:cNvSpPr txBox="1"/>
            <p:nvPr/>
          </p:nvSpPr>
          <p:spPr>
            <a:xfrm>
              <a:off x="114759" y="84836"/>
              <a:ext cx="209394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2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4</a:t>
              </a:r>
            </a:p>
          </p:txBody>
        </p:sp>
      </p:grpSp>
      <p:sp>
        <p:nvSpPr>
          <p:cNvPr id="209" name="TextBox 14"/>
          <p:cNvSpPr txBox="1"/>
          <p:nvPr/>
        </p:nvSpPr>
        <p:spPr>
          <a:xfrm>
            <a:off x="5471516" y="2560320"/>
            <a:ext cx="624128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Context</a:t>
            </a:r>
          </a:p>
        </p:txBody>
      </p:sp>
      <p:grpSp>
        <p:nvGrpSpPr>
          <p:cNvPr id="212" name="Oval 15"/>
          <p:cNvGrpSpPr/>
          <p:nvPr/>
        </p:nvGrpSpPr>
        <p:grpSpPr>
          <a:xfrm>
            <a:off x="7178040" y="2011679"/>
            <a:ext cx="438913" cy="438913"/>
            <a:chOff x="0" y="0"/>
            <a:chExt cx="438911" cy="438911"/>
          </a:xfrm>
        </p:grpSpPr>
        <p:sp>
          <p:nvSpPr>
            <p:cNvPr id="210" name="Circle"/>
            <p:cNvSpPr/>
            <p:nvPr/>
          </p:nvSpPr>
          <p:spPr>
            <a:xfrm>
              <a:off x="0" y="0"/>
              <a:ext cx="438912" cy="438912"/>
            </a:xfrm>
            <a:prstGeom prst="ellipse">
              <a:avLst/>
            </a:prstGeom>
            <a:solidFill>
              <a:srgbClr val="F0FDFA"/>
            </a:solidFill>
            <a:ln w="9525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1" name="5"/>
            <p:cNvSpPr txBox="1"/>
            <p:nvPr/>
          </p:nvSpPr>
          <p:spPr>
            <a:xfrm>
              <a:off x="114759" y="84836"/>
              <a:ext cx="209394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2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5</a:t>
              </a:r>
            </a:p>
          </p:txBody>
        </p:sp>
      </p:grpSp>
      <p:sp>
        <p:nvSpPr>
          <p:cNvPr id="213" name="TextBox 16"/>
          <p:cNvSpPr txBox="1"/>
          <p:nvPr/>
        </p:nvSpPr>
        <p:spPr>
          <a:xfrm>
            <a:off x="6838769" y="2560320"/>
            <a:ext cx="109002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Manager demo</a:t>
            </a:r>
          </a:p>
        </p:txBody>
      </p:sp>
      <p:grpSp>
        <p:nvGrpSpPr>
          <p:cNvPr id="216" name="Oval 17"/>
          <p:cNvGrpSpPr/>
          <p:nvPr/>
        </p:nvGrpSpPr>
        <p:grpSpPr>
          <a:xfrm>
            <a:off x="8778240" y="2011679"/>
            <a:ext cx="438913" cy="438913"/>
            <a:chOff x="0" y="0"/>
            <a:chExt cx="438911" cy="438911"/>
          </a:xfrm>
        </p:grpSpPr>
        <p:sp>
          <p:nvSpPr>
            <p:cNvPr id="214" name="Circle"/>
            <p:cNvSpPr/>
            <p:nvPr/>
          </p:nvSpPr>
          <p:spPr>
            <a:xfrm>
              <a:off x="0" y="0"/>
              <a:ext cx="438912" cy="438912"/>
            </a:xfrm>
            <a:prstGeom prst="ellipse">
              <a:avLst/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5" name="6"/>
            <p:cNvSpPr txBox="1"/>
            <p:nvPr/>
          </p:nvSpPr>
          <p:spPr>
            <a:xfrm>
              <a:off x="114759" y="84836"/>
              <a:ext cx="209394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2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6</a:t>
              </a:r>
            </a:p>
          </p:txBody>
        </p:sp>
      </p:grpSp>
      <p:sp>
        <p:nvSpPr>
          <p:cNvPr id="217" name="TextBox 18"/>
          <p:cNvSpPr txBox="1"/>
          <p:nvPr/>
        </p:nvSpPr>
        <p:spPr>
          <a:xfrm>
            <a:off x="8431227" y="2560320"/>
            <a:ext cx="1105506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Software demo</a:t>
            </a:r>
          </a:p>
        </p:txBody>
      </p:sp>
      <p:grpSp>
        <p:nvGrpSpPr>
          <p:cNvPr id="220" name="Oval 19"/>
          <p:cNvGrpSpPr/>
          <p:nvPr/>
        </p:nvGrpSpPr>
        <p:grpSpPr>
          <a:xfrm>
            <a:off x="10378440" y="2011679"/>
            <a:ext cx="438913" cy="438913"/>
            <a:chOff x="0" y="0"/>
            <a:chExt cx="438911" cy="438911"/>
          </a:xfrm>
        </p:grpSpPr>
        <p:sp>
          <p:nvSpPr>
            <p:cNvPr id="218" name="Circle"/>
            <p:cNvSpPr/>
            <p:nvPr/>
          </p:nvSpPr>
          <p:spPr>
            <a:xfrm>
              <a:off x="0" y="0"/>
              <a:ext cx="438912" cy="438912"/>
            </a:xfrm>
            <a:prstGeom prst="ellipse">
              <a:avLst/>
            </a:prstGeom>
            <a:solidFill>
              <a:srgbClr val="FFF7ED"/>
            </a:solidFill>
            <a:ln w="9525" cap="flat">
              <a:solidFill>
                <a:srgbClr val="EA580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9" name="7"/>
            <p:cNvSpPr txBox="1"/>
            <p:nvPr/>
          </p:nvSpPr>
          <p:spPr>
            <a:xfrm>
              <a:off x="114759" y="84836"/>
              <a:ext cx="209394" cy="2692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2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7</a:t>
              </a:r>
            </a:p>
          </p:txBody>
        </p:sp>
      </p:grpSp>
      <p:sp>
        <p:nvSpPr>
          <p:cNvPr id="221" name="TextBox 20"/>
          <p:cNvSpPr txBox="1"/>
          <p:nvPr/>
        </p:nvSpPr>
        <p:spPr>
          <a:xfrm>
            <a:off x="9912225" y="2560320"/>
            <a:ext cx="134391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b="1" sz="1100">
                <a:solidFill>
                  <a:srgbClr val="1F293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Tools &amp; takeaways</a:t>
            </a:r>
          </a:p>
        </p:txBody>
      </p:sp>
      <p:sp>
        <p:nvSpPr>
          <p:cNvPr id="222" name="Chevron 21"/>
          <p:cNvSpPr/>
          <p:nvPr/>
        </p:nvSpPr>
        <p:spPr>
          <a:xfrm>
            <a:off x="1289303" y="2121407"/>
            <a:ext cx="1005841" cy="182881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3" name="Chevron 22"/>
          <p:cNvSpPr/>
          <p:nvPr/>
        </p:nvSpPr>
        <p:spPr>
          <a:xfrm>
            <a:off x="2889504" y="2121407"/>
            <a:ext cx="1005841" cy="182881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4" name="Chevron 23"/>
          <p:cNvSpPr/>
          <p:nvPr/>
        </p:nvSpPr>
        <p:spPr>
          <a:xfrm>
            <a:off x="4489703" y="2121407"/>
            <a:ext cx="1005841" cy="182881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5" name="Chevron 24"/>
          <p:cNvSpPr/>
          <p:nvPr/>
        </p:nvSpPr>
        <p:spPr>
          <a:xfrm>
            <a:off x="6089903" y="2121407"/>
            <a:ext cx="1005841" cy="182881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Chevron 25"/>
          <p:cNvSpPr/>
          <p:nvPr/>
        </p:nvSpPr>
        <p:spPr>
          <a:xfrm>
            <a:off x="7690104" y="2121407"/>
            <a:ext cx="1005841" cy="182881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7" name="Chevron 26"/>
          <p:cNvSpPr/>
          <p:nvPr/>
        </p:nvSpPr>
        <p:spPr>
          <a:xfrm>
            <a:off x="9290304" y="2121407"/>
            <a:ext cx="1005841" cy="182881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30" name="Rounded Rectangle 27"/>
          <p:cNvGrpSpPr/>
          <p:nvPr/>
        </p:nvGrpSpPr>
        <p:grpSpPr>
          <a:xfrm>
            <a:off x="731519" y="3749038"/>
            <a:ext cx="10698482" cy="1143001"/>
            <a:chOff x="0" y="0"/>
            <a:chExt cx="10698480" cy="1143000"/>
          </a:xfrm>
        </p:grpSpPr>
        <p:sp>
          <p:nvSpPr>
            <p:cNvPr id="228" name="Rounded Rectangle"/>
            <p:cNvSpPr/>
            <p:nvPr/>
          </p:nvSpPr>
          <p:spPr>
            <a:xfrm>
              <a:off x="0" y="0"/>
              <a:ext cx="10698481" cy="11430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9" name="Story of the workshop…"/>
            <p:cNvSpPr txBox="1"/>
            <p:nvPr/>
          </p:nvSpPr>
          <p:spPr>
            <a:xfrm>
              <a:off x="87546" y="278069"/>
              <a:ext cx="10523388" cy="586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Story of the workshop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How AI evolved → how agents work → what they need → how to control cost → two practical workflow demos.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2"/>
          <p:cNvSpPr txBox="1"/>
          <p:nvPr/>
        </p:nvSpPr>
        <p:spPr>
          <a:xfrm>
            <a:off x="594359" y="310895"/>
            <a:ext cx="121045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FOUNDATIONS</a:t>
            </a:r>
          </a:p>
        </p:txBody>
      </p:sp>
      <p:sp>
        <p:nvSpPr>
          <p:cNvPr id="234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From chatbot to multi-agent workflows</a:t>
            </a:r>
          </a:p>
        </p:txBody>
      </p:sp>
      <p:sp>
        <p:nvSpPr>
          <p:cNvPr id="235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quick view of how AI usage has evolved</a:t>
            </a:r>
          </a:p>
        </p:txBody>
      </p:sp>
      <p:sp>
        <p:nvSpPr>
          <p:cNvPr id="236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237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06</a:t>
            </a:r>
          </a:p>
        </p:txBody>
      </p:sp>
      <p:grpSp>
        <p:nvGrpSpPr>
          <p:cNvPr id="240" name="Rounded Rectangle 7"/>
          <p:cNvGrpSpPr/>
          <p:nvPr/>
        </p:nvGrpSpPr>
        <p:grpSpPr>
          <a:xfrm>
            <a:off x="868680" y="1965960"/>
            <a:ext cx="1978762" cy="804673"/>
            <a:chOff x="0" y="0"/>
            <a:chExt cx="1978761" cy="804672"/>
          </a:xfrm>
        </p:grpSpPr>
        <p:sp>
          <p:nvSpPr>
            <p:cNvPr id="238" name="Rounded Rectangle"/>
            <p:cNvSpPr/>
            <p:nvPr/>
          </p:nvSpPr>
          <p:spPr>
            <a:xfrm>
              <a:off x="0" y="0"/>
              <a:ext cx="1978762" cy="804673"/>
            </a:xfrm>
            <a:prstGeom prst="roundRect">
              <a:avLst>
                <a:gd name="adj" fmla="val 16667"/>
              </a:avLst>
            </a:prstGeom>
            <a:solidFill>
              <a:srgbClr val="F3F4F6"/>
            </a:solidFill>
            <a:ln w="9525" cap="flat">
              <a:solidFill>
                <a:srgbClr val="1F29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9" name="Chatbot"/>
            <p:cNvSpPr txBox="1"/>
            <p:nvPr/>
          </p:nvSpPr>
          <p:spPr>
            <a:xfrm>
              <a:off x="89763" y="235966"/>
              <a:ext cx="1799235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Chatbot</a:t>
              </a:r>
            </a:p>
          </p:txBody>
        </p:sp>
      </p:grpSp>
      <p:sp>
        <p:nvSpPr>
          <p:cNvPr id="241" name="Chevron 8"/>
          <p:cNvSpPr/>
          <p:nvPr/>
        </p:nvSpPr>
        <p:spPr>
          <a:xfrm>
            <a:off x="2847440" y="223113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44" name="Rounded Rectangle 9"/>
          <p:cNvGrpSpPr/>
          <p:nvPr/>
        </p:nvGrpSpPr>
        <p:grpSpPr>
          <a:xfrm>
            <a:off x="2957168" y="1965960"/>
            <a:ext cx="1978762" cy="804673"/>
            <a:chOff x="0" y="0"/>
            <a:chExt cx="1978761" cy="804672"/>
          </a:xfrm>
        </p:grpSpPr>
        <p:sp>
          <p:nvSpPr>
            <p:cNvPr id="242" name="Rounded Rectangle"/>
            <p:cNvSpPr/>
            <p:nvPr/>
          </p:nvSpPr>
          <p:spPr>
            <a:xfrm>
              <a:off x="0" y="0"/>
              <a:ext cx="1978762" cy="804673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3" name="Assistant"/>
            <p:cNvSpPr txBox="1"/>
            <p:nvPr/>
          </p:nvSpPr>
          <p:spPr>
            <a:xfrm>
              <a:off x="89763" y="235966"/>
              <a:ext cx="1799235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Assistant</a:t>
              </a:r>
            </a:p>
          </p:txBody>
        </p:sp>
      </p:grpSp>
      <p:sp>
        <p:nvSpPr>
          <p:cNvPr id="245" name="Chevron 10"/>
          <p:cNvSpPr/>
          <p:nvPr/>
        </p:nvSpPr>
        <p:spPr>
          <a:xfrm>
            <a:off x="4935930" y="223113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48" name="Rounded Rectangle 11"/>
          <p:cNvGrpSpPr/>
          <p:nvPr/>
        </p:nvGrpSpPr>
        <p:grpSpPr>
          <a:xfrm>
            <a:off x="5045659" y="1965960"/>
            <a:ext cx="1978762" cy="804673"/>
            <a:chOff x="0" y="0"/>
            <a:chExt cx="1978761" cy="804672"/>
          </a:xfrm>
        </p:grpSpPr>
        <p:sp>
          <p:nvSpPr>
            <p:cNvPr id="246" name="Rounded Rectangle"/>
            <p:cNvSpPr/>
            <p:nvPr/>
          </p:nvSpPr>
          <p:spPr>
            <a:xfrm>
              <a:off x="0" y="0"/>
              <a:ext cx="1978762" cy="804673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9525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7" name="RAG"/>
            <p:cNvSpPr txBox="1"/>
            <p:nvPr/>
          </p:nvSpPr>
          <p:spPr>
            <a:xfrm>
              <a:off x="89763" y="235966"/>
              <a:ext cx="1799235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RAG</a:t>
              </a:r>
            </a:p>
          </p:txBody>
        </p:sp>
      </p:grpSp>
      <p:sp>
        <p:nvSpPr>
          <p:cNvPr id="249" name="Chevron 12"/>
          <p:cNvSpPr/>
          <p:nvPr/>
        </p:nvSpPr>
        <p:spPr>
          <a:xfrm>
            <a:off x="7024420" y="223113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52" name="Rounded Rectangle 13"/>
          <p:cNvGrpSpPr/>
          <p:nvPr/>
        </p:nvGrpSpPr>
        <p:grpSpPr>
          <a:xfrm>
            <a:off x="7134148" y="1965960"/>
            <a:ext cx="1978762" cy="804673"/>
            <a:chOff x="0" y="0"/>
            <a:chExt cx="1978761" cy="804672"/>
          </a:xfrm>
        </p:grpSpPr>
        <p:sp>
          <p:nvSpPr>
            <p:cNvPr id="250" name="Rounded Rectangle"/>
            <p:cNvSpPr/>
            <p:nvPr/>
          </p:nvSpPr>
          <p:spPr>
            <a:xfrm>
              <a:off x="0" y="0"/>
              <a:ext cx="1978762" cy="804673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1" name="Agent"/>
            <p:cNvSpPr txBox="1"/>
            <p:nvPr/>
          </p:nvSpPr>
          <p:spPr>
            <a:xfrm>
              <a:off x="89763" y="235966"/>
              <a:ext cx="1799235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Agent</a:t>
              </a:r>
            </a:p>
          </p:txBody>
        </p:sp>
      </p:grpSp>
      <p:sp>
        <p:nvSpPr>
          <p:cNvPr id="253" name="Chevron 14"/>
          <p:cNvSpPr/>
          <p:nvPr/>
        </p:nvSpPr>
        <p:spPr>
          <a:xfrm>
            <a:off x="9112909" y="223113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56" name="Rounded Rectangle 15"/>
          <p:cNvGrpSpPr/>
          <p:nvPr/>
        </p:nvGrpSpPr>
        <p:grpSpPr>
          <a:xfrm>
            <a:off x="9222637" y="1965960"/>
            <a:ext cx="1978762" cy="804673"/>
            <a:chOff x="0" y="0"/>
            <a:chExt cx="1978761" cy="804672"/>
          </a:xfrm>
        </p:grpSpPr>
        <p:sp>
          <p:nvSpPr>
            <p:cNvPr id="254" name="Rounded Rectangle"/>
            <p:cNvSpPr/>
            <p:nvPr/>
          </p:nvSpPr>
          <p:spPr>
            <a:xfrm>
              <a:off x="0" y="0"/>
              <a:ext cx="1978762" cy="804673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9525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5" name="Multi-agent"/>
            <p:cNvSpPr txBox="1"/>
            <p:nvPr/>
          </p:nvSpPr>
          <p:spPr>
            <a:xfrm>
              <a:off x="89763" y="235966"/>
              <a:ext cx="1799235" cy="332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Multi-agent</a:t>
              </a:r>
            </a:p>
          </p:txBody>
        </p:sp>
      </p:grpSp>
      <p:sp>
        <p:nvSpPr>
          <p:cNvPr id="257" name="TextBox 16"/>
          <p:cNvSpPr txBox="1"/>
          <p:nvPr/>
        </p:nvSpPr>
        <p:spPr>
          <a:xfrm>
            <a:off x="1257876" y="2880360"/>
            <a:ext cx="1004687" cy="25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Ask → answer</a:t>
            </a:r>
          </a:p>
        </p:txBody>
      </p:sp>
      <p:sp>
        <p:nvSpPr>
          <p:cNvPr id="258" name="TextBox 17"/>
          <p:cNvSpPr txBox="1"/>
          <p:nvPr/>
        </p:nvSpPr>
        <p:spPr>
          <a:xfrm>
            <a:off x="3306630" y="2880360"/>
            <a:ext cx="111341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Helps with tasks</a:t>
            </a:r>
          </a:p>
        </p:txBody>
      </p:sp>
      <p:sp>
        <p:nvSpPr>
          <p:cNvPr id="259" name="TextBox 18"/>
          <p:cNvSpPr txBox="1"/>
          <p:nvPr/>
        </p:nvSpPr>
        <p:spPr>
          <a:xfrm>
            <a:off x="5133965" y="2880360"/>
            <a:ext cx="166498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Uses external knowledge</a:t>
            </a:r>
          </a:p>
        </p:txBody>
      </p:sp>
      <p:sp>
        <p:nvSpPr>
          <p:cNvPr id="260" name="TextBox 19"/>
          <p:cNvSpPr txBox="1"/>
          <p:nvPr/>
        </p:nvSpPr>
        <p:spPr>
          <a:xfrm>
            <a:off x="7448682" y="2880360"/>
            <a:ext cx="124179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Plans + uses tools</a:t>
            </a:r>
          </a:p>
        </p:txBody>
      </p:sp>
      <p:sp>
        <p:nvSpPr>
          <p:cNvPr id="261" name="TextBox 20"/>
          <p:cNvSpPr txBox="1"/>
          <p:nvPr/>
        </p:nvSpPr>
        <p:spPr>
          <a:xfrm>
            <a:off x="9425642" y="2880360"/>
            <a:ext cx="149411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Specialists collaborate</a:t>
            </a:r>
          </a:p>
        </p:txBody>
      </p:sp>
      <p:grpSp>
        <p:nvGrpSpPr>
          <p:cNvPr id="264" name="Rounded Rectangle 21"/>
          <p:cNvGrpSpPr/>
          <p:nvPr/>
        </p:nvGrpSpPr>
        <p:grpSpPr>
          <a:xfrm>
            <a:off x="868680" y="3977638"/>
            <a:ext cx="10332720" cy="1005841"/>
            <a:chOff x="0" y="0"/>
            <a:chExt cx="10332719" cy="1005839"/>
          </a:xfrm>
        </p:grpSpPr>
        <p:sp>
          <p:nvSpPr>
            <p:cNvPr id="262" name="Rounded Rectangle"/>
            <p:cNvSpPr/>
            <p:nvPr/>
          </p:nvSpPr>
          <p:spPr>
            <a:xfrm>
              <a:off x="0" y="0"/>
              <a:ext cx="10332720" cy="100584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63" name="Key idea…"/>
            <p:cNvSpPr txBox="1"/>
            <p:nvPr/>
          </p:nvSpPr>
          <p:spPr>
            <a:xfrm>
              <a:off x="80851" y="210819"/>
              <a:ext cx="10171018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Key idea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The workshop focus is the last step: multiple agents working together to deliver real outcomes.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7" name="TextBox 2"/>
          <p:cNvSpPr txBox="1"/>
          <p:nvPr/>
        </p:nvSpPr>
        <p:spPr>
          <a:xfrm>
            <a:off x="594359" y="310895"/>
            <a:ext cx="7391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268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is an AI agent?</a:t>
            </a:r>
          </a:p>
        </p:txBody>
      </p:sp>
      <p:sp>
        <p:nvSpPr>
          <p:cNvPr id="269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An agent works toward a goal instead of only answering a prompt</a:t>
            </a:r>
          </a:p>
        </p:txBody>
      </p:sp>
      <p:sp>
        <p:nvSpPr>
          <p:cNvPr id="270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271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07</a:t>
            </a:r>
          </a:p>
        </p:txBody>
      </p:sp>
      <p:grpSp>
        <p:nvGrpSpPr>
          <p:cNvPr id="274" name="Rounded Rectangle 7"/>
          <p:cNvGrpSpPr/>
          <p:nvPr/>
        </p:nvGrpSpPr>
        <p:grpSpPr>
          <a:xfrm>
            <a:off x="868680" y="1874518"/>
            <a:ext cx="1987906" cy="868681"/>
            <a:chOff x="0" y="0"/>
            <a:chExt cx="1987905" cy="868680"/>
          </a:xfrm>
        </p:grpSpPr>
        <p:sp>
          <p:nvSpPr>
            <p:cNvPr id="272" name="Rounded Rectangle"/>
            <p:cNvSpPr/>
            <p:nvPr/>
          </p:nvSpPr>
          <p:spPr>
            <a:xfrm>
              <a:off x="0" y="0"/>
              <a:ext cx="1987906" cy="868681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3" name="Goal"/>
            <p:cNvSpPr txBox="1"/>
            <p:nvPr/>
          </p:nvSpPr>
          <p:spPr>
            <a:xfrm>
              <a:off x="92887" y="267970"/>
              <a:ext cx="1802131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Goal</a:t>
              </a:r>
            </a:p>
          </p:txBody>
        </p:sp>
      </p:grpSp>
      <p:sp>
        <p:nvSpPr>
          <p:cNvPr id="275" name="Chevron 8"/>
          <p:cNvSpPr/>
          <p:nvPr/>
        </p:nvSpPr>
        <p:spPr>
          <a:xfrm>
            <a:off x="2856584" y="213969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78" name="Rounded Rectangle 9"/>
          <p:cNvGrpSpPr/>
          <p:nvPr/>
        </p:nvGrpSpPr>
        <p:grpSpPr>
          <a:xfrm>
            <a:off x="2966312" y="1874518"/>
            <a:ext cx="1987906" cy="868681"/>
            <a:chOff x="0" y="0"/>
            <a:chExt cx="1987905" cy="868680"/>
          </a:xfrm>
        </p:grpSpPr>
        <p:sp>
          <p:nvSpPr>
            <p:cNvPr id="276" name="Rounded Rectangle"/>
            <p:cNvSpPr/>
            <p:nvPr/>
          </p:nvSpPr>
          <p:spPr>
            <a:xfrm>
              <a:off x="0" y="0"/>
              <a:ext cx="1987906" cy="868681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9525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77" name="Reason"/>
            <p:cNvSpPr txBox="1"/>
            <p:nvPr/>
          </p:nvSpPr>
          <p:spPr>
            <a:xfrm>
              <a:off x="92887" y="267970"/>
              <a:ext cx="1802131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Reason</a:t>
              </a:r>
            </a:p>
          </p:txBody>
        </p:sp>
      </p:grpSp>
      <p:sp>
        <p:nvSpPr>
          <p:cNvPr id="279" name="Chevron 10"/>
          <p:cNvSpPr/>
          <p:nvPr/>
        </p:nvSpPr>
        <p:spPr>
          <a:xfrm>
            <a:off x="4954218" y="213969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82" name="Rounded Rectangle 11"/>
          <p:cNvGrpSpPr/>
          <p:nvPr/>
        </p:nvGrpSpPr>
        <p:grpSpPr>
          <a:xfrm>
            <a:off x="5063947" y="1874518"/>
            <a:ext cx="1987906" cy="868681"/>
            <a:chOff x="0" y="0"/>
            <a:chExt cx="1987905" cy="868680"/>
          </a:xfrm>
        </p:grpSpPr>
        <p:sp>
          <p:nvSpPr>
            <p:cNvPr id="280" name="Rounded Rectangle"/>
            <p:cNvSpPr/>
            <p:nvPr/>
          </p:nvSpPr>
          <p:spPr>
            <a:xfrm>
              <a:off x="0" y="0"/>
              <a:ext cx="1987906" cy="868681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1" name="Use tools"/>
            <p:cNvSpPr txBox="1"/>
            <p:nvPr/>
          </p:nvSpPr>
          <p:spPr>
            <a:xfrm>
              <a:off x="92887" y="267970"/>
              <a:ext cx="1802131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Use tools</a:t>
              </a:r>
            </a:p>
          </p:txBody>
        </p:sp>
      </p:grpSp>
      <p:sp>
        <p:nvSpPr>
          <p:cNvPr id="283" name="Chevron 12"/>
          <p:cNvSpPr/>
          <p:nvPr/>
        </p:nvSpPr>
        <p:spPr>
          <a:xfrm>
            <a:off x="7051851" y="213969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86" name="Rounded Rectangle 13"/>
          <p:cNvGrpSpPr/>
          <p:nvPr/>
        </p:nvGrpSpPr>
        <p:grpSpPr>
          <a:xfrm>
            <a:off x="7161579" y="1874518"/>
            <a:ext cx="1987906" cy="868681"/>
            <a:chOff x="0" y="0"/>
            <a:chExt cx="1987905" cy="868680"/>
          </a:xfrm>
        </p:grpSpPr>
        <p:sp>
          <p:nvSpPr>
            <p:cNvPr id="284" name="Rounded Rectangle"/>
            <p:cNvSpPr/>
            <p:nvPr/>
          </p:nvSpPr>
          <p:spPr>
            <a:xfrm>
              <a:off x="0" y="0"/>
              <a:ext cx="1987906" cy="868681"/>
            </a:xfrm>
            <a:prstGeom prst="roundRect">
              <a:avLst>
                <a:gd name="adj" fmla="val 16667"/>
              </a:avLst>
            </a:prstGeom>
            <a:solidFill>
              <a:srgbClr val="FFF7ED"/>
            </a:solidFill>
            <a:ln w="9525" cap="flat">
              <a:solidFill>
                <a:srgbClr val="EA580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5" name="Observe"/>
            <p:cNvSpPr txBox="1"/>
            <p:nvPr/>
          </p:nvSpPr>
          <p:spPr>
            <a:xfrm>
              <a:off x="92887" y="267970"/>
              <a:ext cx="1802131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EA580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Observe</a:t>
              </a:r>
            </a:p>
          </p:txBody>
        </p:sp>
      </p:grpSp>
      <p:sp>
        <p:nvSpPr>
          <p:cNvPr id="287" name="Chevron 14"/>
          <p:cNvSpPr/>
          <p:nvPr/>
        </p:nvSpPr>
        <p:spPr>
          <a:xfrm>
            <a:off x="9149485" y="213969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90" name="Rounded Rectangle 15"/>
          <p:cNvGrpSpPr/>
          <p:nvPr/>
        </p:nvGrpSpPr>
        <p:grpSpPr>
          <a:xfrm>
            <a:off x="9259213" y="1874518"/>
            <a:ext cx="1987906" cy="868681"/>
            <a:chOff x="0" y="0"/>
            <a:chExt cx="1987905" cy="868680"/>
          </a:xfrm>
        </p:grpSpPr>
        <p:sp>
          <p:nvSpPr>
            <p:cNvPr id="288" name="Rounded Rectangle"/>
            <p:cNvSpPr/>
            <p:nvPr/>
          </p:nvSpPr>
          <p:spPr>
            <a:xfrm>
              <a:off x="0" y="0"/>
              <a:ext cx="1987906" cy="868681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9525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89" name="Deliver"/>
            <p:cNvSpPr txBox="1"/>
            <p:nvPr/>
          </p:nvSpPr>
          <p:spPr>
            <a:xfrm>
              <a:off x="92887" y="267970"/>
              <a:ext cx="1802131" cy="332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6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Deliver</a:t>
              </a:r>
            </a:p>
          </p:txBody>
        </p:sp>
      </p:grpSp>
      <p:grpSp>
        <p:nvGrpSpPr>
          <p:cNvPr id="293" name="Rounded Rectangle 16"/>
          <p:cNvGrpSpPr/>
          <p:nvPr/>
        </p:nvGrpSpPr>
        <p:grpSpPr>
          <a:xfrm>
            <a:off x="868680" y="3657600"/>
            <a:ext cx="4983480" cy="1554481"/>
            <a:chOff x="0" y="0"/>
            <a:chExt cx="4983479" cy="1554480"/>
          </a:xfrm>
        </p:grpSpPr>
        <p:sp>
          <p:nvSpPr>
            <p:cNvPr id="291" name="Rounded Rectangle"/>
            <p:cNvSpPr/>
            <p:nvPr/>
          </p:nvSpPr>
          <p:spPr>
            <a:xfrm>
              <a:off x="0" y="0"/>
              <a:ext cx="4983480" cy="15544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2" name="Assistant mindset…"/>
            <p:cNvSpPr txBox="1"/>
            <p:nvPr/>
          </p:nvSpPr>
          <p:spPr>
            <a:xfrm>
              <a:off x="107633" y="485140"/>
              <a:ext cx="4768214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Assistant mindset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“Here is an answer.”</a:t>
              </a:r>
            </a:p>
          </p:txBody>
        </p:sp>
      </p:grpSp>
      <p:grpSp>
        <p:nvGrpSpPr>
          <p:cNvPr id="296" name="Rounded Rectangle 17"/>
          <p:cNvGrpSpPr/>
          <p:nvPr/>
        </p:nvGrpSpPr>
        <p:grpSpPr>
          <a:xfrm>
            <a:off x="6172200" y="3657600"/>
            <a:ext cx="4983480" cy="1554481"/>
            <a:chOff x="0" y="0"/>
            <a:chExt cx="4983479" cy="1554480"/>
          </a:xfrm>
        </p:grpSpPr>
        <p:sp>
          <p:nvSpPr>
            <p:cNvPr id="294" name="Rounded Rectangle"/>
            <p:cNvSpPr/>
            <p:nvPr/>
          </p:nvSpPr>
          <p:spPr>
            <a:xfrm>
              <a:off x="0" y="0"/>
              <a:ext cx="4983480" cy="1554481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2700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95" name="Agent mindset…"/>
            <p:cNvSpPr txBox="1"/>
            <p:nvPr/>
          </p:nvSpPr>
          <p:spPr>
            <a:xfrm>
              <a:off x="107633" y="485140"/>
              <a:ext cx="4768214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Agent mindset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“I used instructions, tools, and context to produce the output.”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2"/>
          <p:cNvSpPr txBox="1"/>
          <p:nvPr/>
        </p:nvSpPr>
        <p:spPr>
          <a:xfrm>
            <a:off x="594359" y="310895"/>
            <a:ext cx="7391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300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Agent building blocks</a:t>
            </a:r>
          </a:p>
        </p:txBody>
      </p:sp>
      <p:sp>
        <p:nvSpPr>
          <p:cNvPr id="301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core pieces behind a useful agent system</a:t>
            </a:r>
          </a:p>
        </p:txBody>
      </p:sp>
      <p:sp>
        <p:nvSpPr>
          <p:cNvPr id="302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303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09</a:t>
            </a:r>
          </a:p>
        </p:txBody>
      </p:sp>
      <p:grpSp>
        <p:nvGrpSpPr>
          <p:cNvPr id="306" name="Rounded Rectangle 7"/>
          <p:cNvGrpSpPr/>
          <p:nvPr/>
        </p:nvGrpSpPr>
        <p:grpSpPr>
          <a:xfrm>
            <a:off x="822960" y="1600200"/>
            <a:ext cx="2743201" cy="1600200"/>
            <a:chOff x="0" y="0"/>
            <a:chExt cx="2743200" cy="1600200"/>
          </a:xfrm>
        </p:grpSpPr>
        <p:sp>
          <p:nvSpPr>
            <p:cNvPr id="304" name="Rounded Rectangle"/>
            <p:cNvSpPr/>
            <p:nvPr/>
          </p:nvSpPr>
          <p:spPr>
            <a:xfrm>
              <a:off x="0" y="0"/>
              <a:ext cx="2743200" cy="160020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12700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5" name="Instructions…"/>
            <p:cNvSpPr txBox="1"/>
            <p:nvPr/>
          </p:nvSpPr>
          <p:spPr>
            <a:xfrm>
              <a:off x="109864" y="507999"/>
              <a:ext cx="252347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Instructions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How should I behave?</a:t>
              </a:r>
            </a:p>
          </p:txBody>
        </p:sp>
      </p:grpSp>
      <p:grpSp>
        <p:nvGrpSpPr>
          <p:cNvPr id="309" name="Rounded Rectangle 8"/>
          <p:cNvGrpSpPr/>
          <p:nvPr/>
        </p:nvGrpSpPr>
        <p:grpSpPr>
          <a:xfrm>
            <a:off x="4069079" y="1600200"/>
            <a:ext cx="2743201" cy="1600200"/>
            <a:chOff x="0" y="0"/>
            <a:chExt cx="2743200" cy="1600200"/>
          </a:xfrm>
        </p:grpSpPr>
        <p:sp>
          <p:nvSpPr>
            <p:cNvPr id="307" name="Rounded Rectangle"/>
            <p:cNvSpPr/>
            <p:nvPr/>
          </p:nvSpPr>
          <p:spPr>
            <a:xfrm>
              <a:off x="0" y="0"/>
              <a:ext cx="2743200" cy="16002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2700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08" name="Skills…"/>
            <p:cNvSpPr txBox="1"/>
            <p:nvPr/>
          </p:nvSpPr>
          <p:spPr>
            <a:xfrm>
              <a:off x="109864" y="507999"/>
              <a:ext cx="252347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Skills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What procedure can I follow?</a:t>
              </a:r>
            </a:p>
          </p:txBody>
        </p:sp>
      </p:grpSp>
      <p:grpSp>
        <p:nvGrpSpPr>
          <p:cNvPr id="312" name="Rounded Rectangle 9"/>
          <p:cNvGrpSpPr/>
          <p:nvPr/>
        </p:nvGrpSpPr>
        <p:grpSpPr>
          <a:xfrm>
            <a:off x="7315200" y="1600200"/>
            <a:ext cx="2743200" cy="1600200"/>
            <a:chOff x="0" y="0"/>
            <a:chExt cx="2743200" cy="1600200"/>
          </a:xfrm>
        </p:grpSpPr>
        <p:sp>
          <p:nvSpPr>
            <p:cNvPr id="310" name="Rounded Rectangle"/>
            <p:cNvSpPr/>
            <p:nvPr/>
          </p:nvSpPr>
          <p:spPr>
            <a:xfrm>
              <a:off x="0" y="0"/>
              <a:ext cx="2743200" cy="1600200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12700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1" name="Knowledge…"/>
            <p:cNvSpPr txBox="1"/>
            <p:nvPr/>
          </p:nvSpPr>
          <p:spPr>
            <a:xfrm>
              <a:off x="109864" y="425450"/>
              <a:ext cx="2523472" cy="74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Knowledge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What project or domain info do I know?</a:t>
              </a:r>
            </a:p>
          </p:txBody>
        </p:sp>
      </p:grpSp>
      <p:grpSp>
        <p:nvGrpSpPr>
          <p:cNvPr id="315" name="Rounded Rectangle 10"/>
          <p:cNvGrpSpPr/>
          <p:nvPr/>
        </p:nvGrpSpPr>
        <p:grpSpPr>
          <a:xfrm>
            <a:off x="822960" y="3657600"/>
            <a:ext cx="2743201" cy="1600200"/>
            <a:chOff x="0" y="0"/>
            <a:chExt cx="2743200" cy="1600200"/>
          </a:xfrm>
        </p:grpSpPr>
        <p:sp>
          <p:nvSpPr>
            <p:cNvPr id="313" name="Rounded Rectangle"/>
            <p:cNvSpPr/>
            <p:nvPr/>
          </p:nvSpPr>
          <p:spPr>
            <a:xfrm>
              <a:off x="0" y="0"/>
              <a:ext cx="2743200" cy="1600200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12700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4" name="Tools…"/>
            <p:cNvSpPr txBox="1"/>
            <p:nvPr/>
          </p:nvSpPr>
          <p:spPr>
            <a:xfrm>
              <a:off x="109864" y="507999"/>
              <a:ext cx="252347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Tools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What systems can I access?</a:t>
              </a:r>
            </a:p>
          </p:txBody>
        </p:sp>
      </p:grpSp>
      <p:grpSp>
        <p:nvGrpSpPr>
          <p:cNvPr id="318" name="Rounded Rectangle 11"/>
          <p:cNvGrpSpPr/>
          <p:nvPr/>
        </p:nvGrpSpPr>
        <p:grpSpPr>
          <a:xfrm>
            <a:off x="4069079" y="3657600"/>
            <a:ext cx="2743201" cy="1600200"/>
            <a:chOff x="0" y="0"/>
            <a:chExt cx="2743200" cy="1600200"/>
          </a:xfrm>
        </p:grpSpPr>
        <p:sp>
          <p:nvSpPr>
            <p:cNvPr id="316" name="Rounded Rectangle"/>
            <p:cNvSpPr/>
            <p:nvPr/>
          </p:nvSpPr>
          <p:spPr>
            <a:xfrm>
              <a:off x="0" y="0"/>
              <a:ext cx="2743200" cy="1600200"/>
            </a:xfrm>
            <a:prstGeom prst="roundRect">
              <a:avLst>
                <a:gd name="adj" fmla="val 16667"/>
              </a:avLst>
            </a:prstGeom>
            <a:solidFill>
              <a:srgbClr val="FFF7ED"/>
            </a:solidFill>
            <a:ln w="12700" cap="flat">
              <a:solidFill>
                <a:srgbClr val="EA580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17" name="Model…"/>
            <p:cNvSpPr txBox="1"/>
            <p:nvPr/>
          </p:nvSpPr>
          <p:spPr>
            <a:xfrm>
              <a:off x="109864" y="507999"/>
              <a:ext cx="252347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EA580C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Model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What intelligence powers me?</a:t>
              </a:r>
            </a:p>
          </p:txBody>
        </p:sp>
      </p:grpSp>
      <p:grpSp>
        <p:nvGrpSpPr>
          <p:cNvPr id="321" name="Rounded Rectangle 12"/>
          <p:cNvGrpSpPr/>
          <p:nvPr/>
        </p:nvGrpSpPr>
        <p:grpSpPr>
          <a:xfrm>
            <a:off x="7315200" y="3657600"/>
            <a:ext cx="2743200" cy="1600200"/>
            <a:chOff x="0" y="0"/>
            <a:chExt cx="2743200" cy="1600200"/>
          </a:xfrm>
        </p:grpSpPr>
        <p:sp>
          <p:nvSpPr>
            <p:cNvPr id="319" name="Rounded Rectangle"/>
            <p:cNvSpPr/>
            <p:nvPr/>
          </p:nvSpPr>
          <p:spPr>
            <a:xfrm>
              <a:off x="0" y="0"/>
              <a:ext cx="2743200" cy="1600200"/>
            </a:xfrm>
            <a:prstGeom prst="roundRect">
              <a:avLst>
                <a:gd name="adj" fmla="val 16667"/>
              </a:avLst>
            </a:prstGeom>
            <a:solidFill>
              <a:srgbClr val="F3F4F6"/>
            </a:solidFill>
            <a:ln w="12700" cap="flat">
              <a:solidFill>
                <a:srgbClr val="1F29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0" name="Guardrails…"/>
            <p:cNvSpPr txBox="1"/>
            <p:nvPr/>
          </p:nvSpPr>
          <p:spPr>
            <a:xfrm>
              <a:off x="109864" y="507999"/>
              <a:ext cx="252347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Guardrails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What must I avoid or escalate?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4" name="TextBox 2"/>
          <p:cNvSpPr txBox="1"/>
          <p:nvPr/>
        </p:nvSpPr>
        <p:spPr>
          <a:xfrm>
            <a:off x="594359" y="310895"/>
            <a:ext cx="7391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325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Instruction hierarchy</a:t>
            </a:r>
          </a:p>
        </p:txBody>
      </p:sp>
      <p:sp>
        <p:nvSpPr>
          <p:cNvPr id="326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Not all instructions have the same priority or scope</a:t>
            </a:r>
          </a:p>
        </p:txBody>
      </p:sp>
      <p:sp>
        <p:nvSpPr>
          <p:cNvPr id="327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328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10</a:t>
            </a:r>
          </a:p>
        </p:txBody>
      </p:sp>
      <p:grpSp>
        <p:nvGrpSpPr>
          <p:cNvPr id="331" name="Rounded Rectangle 7"/>
          <p:cNvGrpSpPr/>
          <p:nvPr/>
        </p:nvGrpSpPr>
        <p:grpSpPr>
          <a:xfrm>
            <a:off x="1051560" y="1417319"/>
            <a:ext cx="7909560" cy="438913"/>
            <a:chOff x="0" y="0"/>
            <a:chExt cx="7909559" cy="438912"/>
          </a:xfrm>
        </p:grpSpPr>
        <p:sp>
          <p:nvSpPr>
            <p:cNvPr id="329" name="Rounded Rectangle"/>
            <p:cNvSpPr/>
            <p:nvPr/>
          </p:nvSpPr>
          <p:spPr>
            <a:xfrm>
              <a:off x="0" y="0"/>
              <a:ext cx="7909560" cy="438913"/>
            </a:xfrm>
            <a:prstGeom prst="roundRect">
              <a:avLst>
                <a:gd name="adj" fmla="val 16667"/>
              </a:avLst>
            </a:prstGeom>
            <a:solidFill>
              <a:srgbClr val="F3F4F6"/>
            </a:solidFill>
            <a:ln w="12700" cap="flat">
              <a:solidFill>
                <a:srgbClr val="0F172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0" name="1. System instructions"/>
            <p:cNvSpPr txBox="1"/>
            <p:nvPr/>
          </p:nvSpPr>
          <p:spPr>
            <a:xfrm>
              <a:off x="53175" y="16255"/>
              <a:ext cx="780321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1. System instructions</a:t>
              </a:r>
            </a:p>
          </p:txBody>
        </p:sp>
      </p:grpSp>
      <p:grpSp>
        <p:nvGrpSpPr>
          <p:cNvPr id="334" name="Rounded Rectangle 8"/>
          <p:cNvGrpSpPr/>
          <p:nvPr/>
        </p:nvGrpSpPr>
        <p:grpSpPr>
          <a:xfrm>
            <a:off x="1051560" y="1947672"/>
            <a:ext cx="7909560" cy="438913"/>
            <a:chOff x="0" y="0"/>
            <a:chExt cx="7909559" cy="438912"/>
          </a:xfrm>
        </p:grpSpPr>
        <p:sp>
          <p:nvSpPr>
            <p:cNvPr id="332" name="Rounded Rectangle"/>
            <p:cNvSpPr/>
            <p:nvPr/>
          </p:nvSpPr>
          <p:spPr>
            <a:xfrm>
              <a:off x="0" y="0"/>
              <a:ext cx="7909560" cy="438913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12700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3" name="2. Custom instructions"/>
            <p:cNvSpPr txBox="1"/>
            <p:nvPr/>
          </p:nvSpPr>
          <p:spPr>
            <a:xfrm>
              <a:off x="53175" y="16255"/>
              <a:ext cx="780321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2. Custom instructions</a:t>
              </a:r>
            </a:p>
          </p:txBody>
        </p:sp>
      </p:grpSp>
      <p:grpSp>
        <p:nvGrpSpPr>
          <p:cNvPr id="337" name="Rounded Rectangle 9"/>
          <p:cNvGrpSpPr/>
          <p:nvPr/>
        </p:nvGrpSpPr>
        <p:grpSpPr>
          <a:xfrm>
            <a:off x="1051560" y="2478023"/>
            <a:ext cx="7909560" cy="438913"/>
            <a:chOff x="0" y="0"/>
            <a:chExt cx="7909559" cy="438912"/>
          </a:xfrm>
        </p:grpSpPr>
        <p:sp>
          <p:nvSpPr>
            <p:cNvPr id="335" name="Rounded Rectangle"/>
            <p:cNvSpPr/>
            <p:nvPr/>
          </p:nvSpPr>
          <p:spPr>
            <a:xfrm>
              <a:off x="0" y="0"/>
              <a:ext cx="7909560" cy="438913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12700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6" name="3. Custom agent rules (AGENTS.md)"/>
            <p:cNvSpPr txBox="1"/>
            <p:nvPr/>
          </p:nvSpPr>
          <p:spPr>
            <a:xfrm>
              <a:off x="53175" y="16255"/>
              <a:ext cx="780321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3. Custom agent rules (AGENTS.md)</a:t>
              </a:r>
            </a:p>
          </p:txBody>
        </p:sp>
      </p:grpSp>
      <p:grpSp>
        <p:nvGrpSpPr>
          <p:cNvPr id="340" name="Rounded Rectangle 11"/>
          <p:cNvGrpSpPr/>
          <p:nvPr/>
        </p:nvGrpSpPr>
        <p:grpSpPr>
          <a:xfrm>
            <a:off x="1051560" y="3005328"/>
            <a:ext cx="7909560" cy="438913"/>
            <a:chOff x="0" y="0"/>
            <a:chExt cx="7909559" cy="438912"/>
          </a:xfrm>
        </p:grpSpPr>
        <p:sp>
          <p:nvSpPr>
            <p:cNvPr id="338" name="Rounded Rectangle"/>
            <p:cNvSpPr/>
            <p:nvPr/>
          </p:nvSpPr>
          <p:spPr>
            <a:xfrm>
              <a:off x="0" y="0"/>
              <a:ext cx="7909560" cy="438913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12700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39" name="4. Skills / procedures"/>
            <p:cNvSpPr txBox="1"/>
            <p:nvPr/>
          </p:nvSpPr>
          <p:spPr>
            <a:xfrm>
              <a:off x="53175" y="16255"/>
              <a:ext cx="780321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4. Skills / procedures</a:t>
              </a:r>
            </a:p>
          </p:txBody>
        </p:sp>
      </p:grpSp>
      <p:grpSp>
        <p:nvGrpSpPr>
          <p:cNvPr id="343" name="Rounded Rectangle 12"/>
          <p:cNvGrpSpPr/>
          <p:nvPr/>
        </p:nvGrpSpPr>
        <p:grpSpPr>
          <a:xfrm>
            <a:off x="1051560" y="3535679"/>
            <a:ext cx="7909560" cy="438913"/>
            <a:chOff x="0" y="0"/>
            <a:chExt cx="7909559" cy="438912"/>
          </a:xfrm>
        </p:grpSpPr>
        <p:sp>
          <p:nvSpPr>
            <p:cNvPr id="341" name="Rounded Rectangle"/>
            <p:cNvSpPr/>
            <p:nvPr/>
          </p:nvSpPr>
          <p:spPr>
            <a:xfrm>
              <a:off x="0" y="0"/>
              <a:ext cx="7909560" cy="438913"/>
            </a:xfrm>
            <a:prstGeom prst="roundRect">
              <a:avLst>
                <a:gd name="adj" fmla="val 16667"/>
              </a:avLst>
            </a:prstGeom>
            <a:solidFill>
              <a:srgbClr val="FFF7ED"/>
            </a:solidFill>
            <a:ln w="12700" cap="flat">
              <a:solidFill>
                <a:srgbClr val="EA580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2" name="5. Knowledge / RAG"/>
            <p:cNvSpPr txBox="1"/>
            <p:nvPr/>
          </p:nvSpPr>
          <p:spPr>
            <a:xfrm>
              <a:off x="53175" y="16255"/>
              <a:ext cx="780321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EA580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5. Knowledge / RAG</a:t>
              </a:r>
            </a:p>
          </p:txBody>
        </p:sp>
      </p:grpSp>
      <p:grpSp>
        <p:nvGrpSpPr>
          <p:cNvPr id="346" name="Rounded Rectangle 13"/>
          <p:cNvGrpSpPr/>
          <p:nvPr/>
        </p:nvGrpSpPr>
        <p:grpSpPr>
          <a:xfrm>
            <a:off x="1051560" y="4066032"/>
            <a:ext cx="7909560" cy="438913"/>
            <a:chOff x="0" y="0"/>
            <a:chExt cx="7909559" cy="438912"/>
          </a:xfrm>
        </p:grpSpPr>
        <p:sp>
          <p:nvSpPr>
            <p:cNvPr id="344" name="Rounded Rectangle"/>
            <p:cNvSpPr/>
            <p:nvPr/>
          </p:nvSpPr>
          <p:spPr>
            <a:xfrm>
              <a:off x="0" y="0"/>
              <a:ext cx="7909560" cy="438913"/>
            </a:xfrm>
            <a:prstGeom prst="roundRect">
              <a:avLst>
                <a:gd name="adj" fmla="val 16667"/>
              </a:avLst>
            </a:prstGeom>
            <a:solidFill>
              <a:srgbClr val="FEF2F2"/>
            </a:solidFill>
            <a:ln w="12700" cap="flat">
              <a:solidFill>
                <a:srgbClr val="DC2626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5" name="6. Tools"/>
            <p:cNvSpPr txBox="1"/>
            <p:nvPr/>
          </p:nvSpPr>
          <p:spPr>
            <a:xfrm>
              <a:off x="53175" y="16255"/>
              <a:ext cx="780321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DC2626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6. Tools</a:t>
              </a:r>
            </a:p>
          </p:txBody>
        </p:sp>
      </p:grpSp>
      <p:grpSp>
        <p:nvGrpSpPr>
          <p:cNvPr id="349" name="Rounded Rectangle 14"/>
          <p:cNvGrpSpPr/>
          <p:nvPr/>
        </p:nvGrpSpPr>
        <p:grpSpPr>
          <a:xfrm>
            <a:off x="1051560" y="4596384"/>
            <a:ext cx="7909560" cy="438913"/>
            <a:chOff x="0" y="0"/>
            <a:chExt cx="7909559" cy="438912"/>
          </a:xfrm>
        </p:grpSpPr>
        <p:sp>
          <p:nvSpPr>
            <p:cNvPr id="347" name="Rounded Rectangle"/>
            <p:cNvSpPr/>
            <p:nvPr/>
          </p:nvSpPr>
          <p:spPr>
            <a:xfrm>
              <a:off x="0" y="0"/>
              <a:ext cx="7909560" cy="438913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1F29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48" name="7. User request"/>
            <p:cNvSpPr txBox="1"/>
            <p:nvPr/>
          </p:nvSpPr>
          <p:spPr>
            <a:xfrm>
              <a:off x="53175" y="16255"/>
              <a:ext cx="7803210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7. User request</a:t>
              </a:r>
            </a:p>
          </p:txBody>
        </p:sp>
      </p:grpSp>
      <p:grpSp>
        <p:nvGrpSpPr>
          <p:cNvPr id="352" name="Down Arrow 15"/>
          <p:cNvGrpSpPr/>
          <p:nvPr/>
        </p:nvGrpSpPr>
        <p:grpSpPr>
          <a:xfrm>
            <a:off x="9372599" y="1272496"/>
            <a:ext cx="1564396" cy="3672926"/>
            <a:chOff x="0" y="0"/>
            <a:chExt cx="1564394" cy="3672925"/>
          </a:xfrm>
        </p:grpSpPr>
        <p:sp>
          <p:nvSpPr>
            <p:cNvPr id="350" name="Shape"/>
            <p:cNvSpPr/>
            <p:nvPr/>
          </p:nvSpPr>
          <p:spPr>
            <a:xfrm>
              <a:off x="-1" y="-1"/>
              <a:ext cx="1564396" cy="36729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7000"/>
                  </a:moveTo>
                  <a:lnTo>
                    <a:pt x="5400" y="170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7000"/>
                  </a:lnTo>
                  <a:lnTo>
                    <a:pt x="21600" y="17000"/>
                  </a:lnTo>
                  <a:lnTo>
                    <a:pt x="10800" y="21600"/>
                  </a:lnTo>
                  <a:close/>
                </a:path>
              </a:pathLst>
            </a:cu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1" name="Higher…"/>
            <p:cNvSpPr txBox="1"/>
            <p:nvPr/>
          </p:nvSpPr>
          <p:spPr>
            <a:xfrm>
              <a:off x="466200" y="902171"/>
              <a:ext cx="631994" cy="14774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2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Higher</a:t>
              </a:r>
            </a:p>
            <a:p>
              <a:pPr algn="ctr">
                <a:defRPr b="1" sz="12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priority</a:t>
              </a:r>
            </a:p>
            <a:p>
              <a:pPr algn="ctr">
                <a:defRPr b="1" sz="12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↓</a:t>
              </a:r>
            </a:p>
          </p:txBody>
        </p:sp>
      </p:grpSp>
      <p:grpSp>
        <p:nvGrpSpPr>
          <p:cNvPr id="355" name="Rounded Rectangle 16"/>
          <p:cNvGrpSpPr/>
          <p:nvPr/>
        </p:nvGrpSpPr>
        <p:grpSpPr>
          <a:xfrm>
            <a:off x="1051560" y="5496560"/>
            <a:ext cx="10149841" cy="584201"/>
            <a:chOff x="0" y="0"/>
            <a:chExt cx="10149840" cy="584200"/>
          </a:xfrm>
        </p:grpSpPr>
        <p:sp>
          <p:nvSpPr>
            <p:cNvPr id="353" name="Rounded Rectangle"/>
            <p:cNvSpPr/>
            <p:nvPr/>
          </p:nvSpPr>
          <p:spPr>
            <a:xfrm>
              <a:off x="0" y="17780"/>
              <a:ext cx="10149841" cy="5486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4" name="Runtime assembly…"/>
            <p:cNvSpPr txBox="1"/>
            <p:nvPr/>
          </p:nvSpPr>
          <p:spPr>
            <a:xfrm>
              <a:off x="58532" y="0"/>
              <a:ext cx="10032776" cy="584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Runtime assembly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The model sees only the relevant instructions, files, retrieved context, tool results, and the current request.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2"/>
          <p:cNvSpPr txBox="1"/>
          <p:nvPr/>
        </p:nvSpPr>
        <p:spPr>
          <a:xfrm>
            <a:off x="594359" y="310895"/>
            <a:ext cx="7391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359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Why multi-agent workflows?</a:t>
            </a:r>
          </a:p>
        </p:txBody>
      </p:sp>
      <p:sp>
        <p:nvSpPr>
          <p:cNvPr id="360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Break larger work into specialist roles with clear handoffs</a:t>
            </a:r>
          </a:p>
        </p:txBody>
      </p:sp>
      <p:sp>
        <p:nvSpPr>
          <p:cNvPr id="361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362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08</a:t>
            </a:r>
          </a:p>
        </p:txBody>
      </p:sp>
      <p:grpSp>
        <p:nvGrpSpPr>
          <p:cNvPr id="365" name="Rounded Rectangle 7"/>
          <p:cNvGrpSpPr/>
          <p:nvPr/>
        </p:nvGrpSpPr>
        <p:grpSpPr>
          <a:xfrm>
            <a:off x="777240" y="1600200"/>
            <a:ext cx="3429001" cy="2011680"/>
            <a:chOff x="0" y="0"/>
            <a:chExt cx="3429000" cy="2011679"/>
          </a:xfrm>
        </p:grpSpPr>
        <p:sp>
          <p:nvSpPr>
            <p:cNvPr id="363" name="Rounded Rectangle"/>
            <p:cNvSpPr/>
            <p:nvPr/>
          </p:nvSpPr>
          <p:spPr>
            <a:xfrm>
              <a:off x="0" y="0"/>
              <a:ext cx="3429000" cy="20116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64" name="Specialists…"/>
            <p:cNvSpPr txBox="1"/>
            <p:nvPr/>
          </p:nvSpPr>
          <p:spPr>
            <a:xfrm>
              <a:off x="129951" y="631189"/>
              <a:ext cx="3169098" cy="74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Specialists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Each agent focuses on a specific job, such as planning, coding, summarising, or reviewing.</a:t>
              </a:r>
            </a:p>
          </p:txBody>
        </p:sp>
      </p:grpSp>
      <p:grpSp>
        <p:nvGrpSpPr>
          <p:cNvPr id="368" name="Rounded Rectangle 8"/>
          <p:cNvGrpSpPr/>
          <p:nvPr/>
        </p:nvGrpSpPr>
        <p:grpSpPr>
          <a:xfrm>
            <a:off x="4379976" y="1600200"/>
            <a:ext cx="3429001" cy="2011680"/>
            <a:chOff x="0" y="0"/>
            <a:chExt cx="3429000" cy="2011679"/>
          </a:xfrm>
        </p:grpSpPr>
        <p:sp>
          <p:nvSpPr>
            <p:cNvPr id="366" name="Rounded Rectangle"/>
            <p:cNvSpPr/>
            <p:nvPr/>
          </p:nvSpPr>
          <p:spPr>
            <a:xfrm>
              <a:off x="0" y="0"/>
              <a:ext cx="3429000" cy="20116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67" name="Better handoffs…"/>
            <p:cNvSpPr txBox="1"/>
            <p:nvPr/>
          </p:nvSpPr>
          <p:spPr>
            <a:xfrm>
              <a:off x="129951" y="631189"/>
              <a:ext cx="3169098" cy="74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Better handoffs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Outputs become structured inputs for the next step in the workflow.</a:t>
              </a:r>
            </a:p>
          </p:txBody>
        </p:sp>
      </p:grpSp>
      <p:grpSp>
        <p:nvGrpSpPr>
          <p:cNvPr id="371" name="Rounded Rectangle 9"/>
          <p:cNvGrpSpPr/>
          <p:nvPr/>
        </p:nvGrpSpPr>
        <p:grpSpPr>
          <a:xfrm>
            <a:off x="7982711" y="1600200"/>
            <a:ext cx="3429001" cy="2011680"/>
            <a:chOff x="0" y="0"/>
            <a:chExt cx="3429000" cy="2011679"/>
          </a:xfrm>
        </p:grpSpPr>
        <p:sp>
          <p:nvSpPr>
            <p:cNvPr id="369" name="Rounded Rectangle"/>
            <p:cNvSpPr/>
            <p:nvPr/>
          </p:nvSpPr>
          <p:spPr>
            <a:xfrm>
              <a:off x="0" y="0"/>
              <a:ext cx="3429000" cy="20116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70" name="Clearer control…"/>
            <p:cNvSpPr txBox="1"/>
            <p:nvPr/>
          </p:nvSpPr>
          <p:spPr>
            <a:xfrm>
              <a:off x="129951" y="631189"/>
              <a:ext cx="3169098" cy="74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Clearer control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You can tune prompts, tools, and cost by role instead of using one giant agent.</a:t>
              </a:r>
            </a:p>
          </p:txBody>
        </p:sp>
      </p:grpSp>
      <p:grpSp>
        <p:nvGrpSpPr>
          <p:cNvPr id="374" name="Rounded Rectangle 10"/>
          <p:cNvGrpSpPr/>
          <p:nvPr/>
        </p:nvGrpSpPr>
        <p:grpSpPr>
          <a:xfrm>
            <a:off x="777240" y="3977638"/>
            <a:ext cx="10634472" cy="1143001"/>
            <a:chOff x="0" y="0"/>
            <a:chExt cx="10634471" cy="1143000"/>
          </a:xfrm>
        </p:grpSpPr>
        <p:sp>
          <p:nvSpPr>
            <p:cNvPr id="372" name="Rounded Rectangle"/>
            <p:cNvSpPr/>
            <p:nvPr/>
          </p:nvSpPr>
          <p:spPr>
            <a:xfrm>
              <a:off x="0" y="0"/>
              <a:ext cx="10634472" cy="114300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12700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73" name="Workshop examples…"/>
            <p:cNvSpPr txBox="1"/>
            <p:nvPr/>
          </p:nvSpPr>
          <p:spPr>
            <a:xfrm>
              <a:off x="87547" y="278069"/>
              <a:ext cx="10459378" cy="586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Workshop examples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Manager flow: transcript → business outputs   |   Software flow: specification → working product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7" name="TextBox 2"/>
          <p:cNvSpPr txBox="1"/>
          <p:nvPr/>
        </p:nvSpPr>
        <p:spPr>
          <a:xfrm>
            <a:off x="594359" y="310895"/>
            <a:ext cx="1368660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CUSTOMISATION</a:t>
            </a:r>
          </a:p>
        </p:txBody>
      </p:sp>
      <p:sp>
        <p:nvSpPr>
          <p:cNvPr id="378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Instruction files &amp; reusable skills</a:t>
            </a:r>
          </a:p>
        </p:txBody>
      </p:sp>
      <p:sp>
        <p:nvSpPr>
          <p:cNvPr id="379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These make an agent more consistent and repeatable</a:t>
            </a:r>
          </a:p>
        </p:txBody>
      </p:sp>
      <p:sp>
        <p:nvSpPr>
          <p:cNvPr id="380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381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82" name="Rounded Rectangle 7"/>
          <p:cNvSpPr/>
          <p:nvPr/>
        </p:nvSpPr>
        <p:spPr>
          <a:xfrm>
            <a:off x="822960" y="1600200"/>
            <a:ext cx="5074921" cy="3566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2563E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385" name="Rounded Rectangle 8"/>
          <p:cNvGrpSpPr/>
          <p:nvPr/>
        </p:nvGrpSpPr>
        <p:grpSpPr>
          <a:xfrm>
            <a:off x="1051560" y="1600200"/>
            <a:ext cx="4846321" cy="3566160"/>
            <a:chOff x="0" y="0"/>
            <a:chExt cx="4846320" cy="3566159"/>
          </a:xfrm>
        </p:grpSpPr>
        <p:sp>
          <p:nvSpPr>
            <p:cNvPr id="383" name="Rounded Rectangle"/>
            <p:cNvSpPr/>
            <p:nvPr/>
          </p:nvSpPr>
          <p:spPr>
            <a:xfrm>
              <a:off x="0" y="0"/>
              <a:ext cx="4846321" cy="35661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84" name="AGENTS.md…"/>
            <p:cNvSpPr txBox="1"/>
            <p:nvPr/>
          </p:nvSpPr>
          <p:spPr>
            <a:xfrm>
              <a:off x="260128" y="1238249"/>
              <a:ext cx="4361624" cy="1145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2563EB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AGENTS.md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3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- Role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3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- Project rules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3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- Output format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3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- Guardrails</a:t>
              </a:r>
            </a:p>
          </p:txBody>
        </p:sp>
      </p:grpSp>
      <p:grpSp>
        <p:nvGrpSpPr>
          <p:cNvPr id="388" name="Rounded Rectangle 9"/>
          <p:cNvGrpSpPr/>
          <p:nvPr/>
        </p:nvGrpSpPr>
        <p:grpSpPr>
          <a:xfrm>
            <a:off x="6309359" y="1600200"/>
            <a:ext cx="3977640" cy="3566160"/>
            <a:chOff x="0" y="0"/>
            <a:chExt cx="3977638" cy="3566159"/>
          </a:xfrm>
        </p:grpSpPr>
        <p:sp>
          <p:nvSpPr>
            <p:cNvPr id="386" name="Rounded Rectangle"/>
            <p:cNvSpPr/>
            <p:nvPr/>
          </p:nvSpPr>
          <p:spPr>
            <a:xfrm>
              <a:off x="0" y="0"/>
              <a:ext cx="3977639" cy="35661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87" name="SKILL.md…"/>
            <p:cNvSpPr txBox="1"/>
            <p:nvPr/>
          </p:nvSpPr>
          <p:spPr>
            <a:xfrm>
              <a:off x="260128" y="1339849"/>
              <a:ext cx="3492943" cy="942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600">
                  <a:solidFill>
                    <a:srgbClr val="16A34A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SKILL.md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3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- Reusable procedure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3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- Step-by-step method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300">
                  <a:solidFill>
                    <a:srgbClr val="1F2937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- Expected output</a:t>
              </a:r>
            </a:p>
          </p:txBody>
        </p:sp>
      </p:grpSp>
      <p:grpSp>
        <p:nvGrpSpPr>
          <p:cNvPr id="391" name="Rounded Rectangle 10"/>
          <p:cNvGrpSpPr/>
          <p:nvPr/>
        </p:nvGrpSpPr>
        <p:grpSpPr>
          <a:xfrm>
            <a:off x="822960" y="5468619"/>
            <a:ext cx="9921241" cy="584201"/>
            <a:chOff x="0" y="0"/>
            <a:chExt cx="9921240" cy="584200"/>
          </a:xfrm>
        </p:grpSpPr>
        <p:sp>
          <p:nvSpPr>
            <p:cNvPr id="389" name="Rounded Rectangle"/>
            <p:cNvSpPr/>
            <p:nvPr/>
          </p:nvSpPr>
          <p:spPr>
            <a:xfrm>
              <a:off x="0" y="17780"/>
              <a:ext cx="9921241" cy="548641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12700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90" name="Use in this workshop…"/>
            <p:cNvSpPr txBox="1"/>
            <p:nvPr/>
          </p:nvSpPr>
          <p:spPr>
            <a:xfrm>
              <a:off x="58532" y="0"/>
              <a:ext cx="9804176" cy="584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 in this workshop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We will show how instruction files and skills shape the Engineering Manager Agent and Software Engineer Agent.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94" name="TextBox 2"/>
          <p:cNvSpPr txBox="1"/>
          <p:nvPr/>
        </p:nvSpPr>
        <p:spPr>
          <a:xfrm>
            <a:off x="594359" y="310895"/>
            <a:ext cx="83228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395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Only the current context is visible</a:t>
            </a:r>
          </a:p>
        </p:txBody>
      </p:sp>
      <p:sp>
        <p:nvSpPr>
          <p:cNvPr id="396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Good outputs depend on sending the right information at the right time</a:t>
            </a:r>
          </a:p>
        </p:txBody>
      </p:sp>
      <p:sp>
        <p:nvSpPr>
          <p:cNvPr id="397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398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13</a:t>
            </a:r>
          </a:p>
        </p:txBody>
      </p:sp>
      <p:grpSp>
        <p:nvGrpSpPr>
          <p:cNvPr id="401" name="Rounded Rectangle 7"/>
          <p:cNvGrpSpPr/>
          <p:nvPr/>
        </p:nvGrpSpPr>
        <p:grpSpPr>
          <a:xfrm>
            <a:off x="868680" y="1645920"/>
            <a:ext cx="3703321" cy="3383280"/>
            <a:chOff x="0" y="0"/>
            <a:chExt cx="3703320" cy="3383279"/>
          </a:xfrm>
        </p:grpSpPr>
        <p:sp>
          <p:nvSpPr>
            <p:cNvPr id="399" name="Rounded Rectangle"/>
            <p:cNvSpPr/>
            <p:nvPr/>
          </p:nvSpPr>
          <p:spPr>
            <a:xfrm>
              <a:off x="0" y="0"/>
              <a:ext cx="3703321" cy="338328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2700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0" name="Loaded now…"/>
            <p:cNvSpPr txBox="1"/>
            <p:nvPr/>
          </p:nvSpPr>
          <p:spPr>
            <a:xfrm>
              <a:off x="196907" y="1069340"/>
              <a:ext cx="3309506" cy="1244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Loaded now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Current user request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Relevant instructions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Selected files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Retrieved knowledge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Tool results</a:t>
              </a:r>
            </a:p>
          </p:txBody>
        </p:sp>
      </p:grpSp>
      <p:grpSp>
        <p:nvGrpSpPr>
          <p:cNvPr id="404" name="Rounded Rectangle 8"/>
          <p:cNvGrpSpPr/>
          <p:nvPr/>
        </p:nvGrpSpPr>
        <p:grpSpPr>
          <a:xfrm>
            <a:off x="7589519" y="1645920"/>
            <a:ext cx="3703321" cy="3383280"/>
            <a:chOff x="0" y="0"/>
            <a:chExt cx="3703320" cy="3383279"/>
          </a:xfrm>
        </p:grpSpPr>
        <p:sp>
          <p:nvSpPr>
            <p:cNvPr id="402" name="Rounded Rectangle"/>
            <p:cNvSpPr/>
            <p:nvPr/>
          </p:nvSpPr>
          <p:spPr>
            <a:xfrm>
              <a:off x="0" y="0"/>
              <a:ext cx="3703321" cy="3383280"/>
            </a:xfrm>
            <a:prstGeom prst="roundRect">
              <a:avLst>
                <a:gd name="adj" fmla="val 16667"/>
              </a:avLst>
            </a:prstGeom>
            <a:solidFill>
              <a:srgbClr val="FFF7ED"/>
            </a:solidFill>
            <a:ln w="12700" cap="flat">
              <a:solidFill>
                <a:srgbClr val="EA580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3" name="Not automatically loaded…"/>
            <p:cNvSpPr txBox="1"/>
            <p:nvPr/>
          </p:nvSpPr>
          <p:spPr>
            <a:xfrm>
              <a:off x="196907" y="1069340"/>
              <a:ext cx="3309506" cy="1244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EA580C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Not automatically loaded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All company docs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The whole internet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Every past message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All skills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Everything the user knows</a:t>
              </a:r>
            </a:p>
          </p:txBody>
        </p:sp>
      </p:grpSp>
      <p:grpSp>
        <p:nvGrpSpPr>
          <p:cNvPr id="407" name="Rounded Rectangle 9"/>
          <p:cNvGrpSpPr/>
          <p:nvPr/>
        </p:nvGrpSpPr>
        <p:grpSpPr>
          <a:xfrm>
            <a:off x="4983479" y="2194560"/>
            <a:ext cx="2240281" cy="1965961"/>
            <a:chOff x="0" y="0"/>
            <a:chExt cx="2240279" cy="1965960"/>
          </a:xfrm>
        </p:grpSpPr>
        <p:sp>
          <p:nvSpPr>
            <p:cNvPr id="405" name="Rounded Rectangle"/>
            <p:cNvSpPr/>
            <p:nvPr/>
          </p:nvSpPr>
          <p:spPr>
            <a:xfrm>
              <a:off x="0" y="0"/>
              <a:ext cx="2240280" cy="196596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6" name="LLM…"/>
            <p:cNvSpPr txBox="1"/>
            <p:nvPr/>
          </p:nvSpPr>
          <p:spPr>
            <a:xfrm>
              <a:off x="146452" y="499109"/>
              <a:ext cx="1947376" cy="967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9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LLM</a:t>
              </a:r>
            </a:p>
            <a:p>
              <a:pPr algn="ctr">
                <a:defRPr b="1" sz="19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sees only</a:t>
              </a:r>
            </a:p>
            <a:p>
              <a:pPr algn="ctr">
                <a:defRPr b="1" sz="19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what is loaded</a:t>
              </a:r>
            </a:p>
          </p:txBody>
        </p:sp>
      </p:grpSp>
      <p:sp>
        <p:nvSpPr>
          <p:cNvPr id="408" name="Chevron 10"/>
          <p:cNvSpPr/>
          <p:nvPr/>
        </p:nvSpPr>
        <p:spPr>
          <a:xfrm>
            <a:off x="4617720" y="2880360"/>
            <a:ext cx="320041" cy="20116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09" name="Chevron 11"/>
          <p:cNvSpPr/>
          <p:nvPr/>
        </p:nvSpPr>
        <p:spPr>
          <a:xfrm rot="10800000">
            <a:off x="7269480" y="2880360"/>
            <a:ext cx="320041" cy="20116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12" name="TextBox 2"/>
          <p:cNvSpPr txBox="1"/>
          <p:nvPr/>
        </p:nvSpPr>
        <p:spPr>
          <a:xfrm>
            <a:off x="594359" y="310895"/>
            <a:ext cx="83228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CONTEXT</a:t>
            </a:r>
          </a:p>
        </p:txBody>
      </p:sp>
      <p:sp>
        <p:nvSpPr>
          <p:cNvPr id="413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What the model actually sees</a:t>
            </a:r>
          </a:p>
        </p:txBody>
      </p:sp>
      <p:sp>
        <p:nvSpPr>
          <p:cNvPr id="414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model only sees the package assembled for the current request</a:t>
            </a:r>
          </a:p>
        </p:txBody>
      </p:sp>
      <p:sp>
        <p:nvSpPr>
          <p:cNvPr id="415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416" name="TextBox 6"/>
          <p:cNvSpPr txBox="1"/>
          <p:nvPr/>
        </p:nvSpPr>
        <p:spPr>
          <a:xfrm>
            <a:off x="11210399" y="310895"/>
            <a:ext cx="265322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11</a:t>
            </a:r>
          </a:p>
        </p:txBody>
      </p:sp>
      <p:grpSp>
        <p:nvGrpSpPr>
          <p:cNvPr id="419" name="Rounded Rectangle 7"/>
          <p:cNvGrpSpPr/>
          <p:nvPr/>
        </p:nvGrpSpPr>
        <p:grpSpPr>
          <a:xfrm>
            <a:off x="822960" y="1828800"/>
            <a:ext cx="1143001" cy="960120"/>
            <a:chOff x="0" y="0"/>
            <a:chExt cx="1143000" cy="960119"/>
          </a:xfrm>
        </p:grpSpPr>
        <p:sp>
          <p:nvSpPr>
            <p:cNvPr id="417" name="Rounded Rectangle"/>
            <p:cNvSpPr/>
            <p:nvPr/>
          </p:nvSpPr>
          <p:spPr>
            <a:xfrm>
              <a:off x="0" y="0"/>
              <a:ext cx="1143000" cy="960120"/>
            </a:xfrm>
            <a:prstGeom prst="roundRect">
              <a:avLst>
                <a:gd name="adj" fmla="val 16667"/>
              </a:avLst>
            </a:prstGeom>
            <a:solidFill>
              <a:srgbClr val="F3F4F6"/>
            </a:solidFill>
            <a:ln w="9525" cap="flat">
              <a:solidFill>
                <a:srgbClr val="1F29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18" name="System…"/>
            <p:cNvSpPr txBox="1"/>
            <p:nvPr/>
          </p:nvSpPr>
          <p:spPr>
            <a:xfrm>
              <a:off x="97351" y="167640"/>
              <a:ext cx="948298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System</a:t>
              </a:r>
            </a:p>
            <a:p>
              <a:pPr algn="ctr">
                <a:defRPr b="1" sz="12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instructions</a:t>
              </a:r>
            </a:p>
          </p:txBody>
        </p:sp>
      </p:grpSp>
      <p:grpSp>
        <p:nvGrpSpPr>
          <p:cNvPr id="422" name="Rounded Rectangle 8"/>
          <p:cNvGrpSpPr/>
          <p:nvPr/>
        </p:nvGrpSpPr>
        <p:grpSpPr>
          <a:xfrm>
            <a:off x="2194560" y="1828800"/>
            <a:ext cx="1143001" cy="960120"/>
            <a:chOff x="0" y="0"/>
            <a:chExt cx="1143000" cy="960119"/>
          </a:xfrm>
        </p:grpSpPr>
        <p:sp>
          <p:nvSpPr>
            <p:cNvPr id="420" name="Rounded Rectangle"/>
            <p:cNvSpPr/>
            <p:nvPr/>
          </p:nvSpPr>
          <p:spPr>
            <a:xfrm>
              <a:off x="0" y="0"/>
              <a:ext cx="1143000" cy="96012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1" name="Custom…"/>
            <p:cNvSpPr txBox="1"/>
            <p:nvPr/>
          </p:nvSpPr>
          <p:spPr>
            <a:xfrm>
              <a:off x="97351" y="167640"/>
              <a:ext cx="948298" cy="624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Custom</a:t>
              </a:r>
            </a:p>
            <a:p>
              <a:pPr algn="ctr">
                <a:defRPr b="1" sz="12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Instructions</a:t>
              </a:r>
            </a:p>
          </p:txBody>
        </p:sp>
      </p:grpSp>
      <p:grpSp>
        <p:nvGrpSpPr>
          <p:cNvPr id="425" name="Rounded Rectangle 9"/>
          <p:cNvGrpSpPr/>
          <p:nvPr/>
        </p:nvGrpSpPr>
        <p:grpSpPr>
          <a:xfrm>
            <a:off x="3566159" y="1828800"/>
            <a:ext cx="1143001" cy="960120"/>
            <a:chOff x="0" y="0"/>
            <a:chExt cx="1143000" cy="960119"/>
          </a:xfrm>
        </p:grpSpPr>
        <p:sp>
          <p:nvSpPr>
            <p:cNvPr id="423" name="Rounded Rectangle"/>
            <p:cNvSpPr/>
            <p:nvPr/>
          </p:nvSpPr>
          <p:spPr>
            <a:xfrm>
              <a:off x="0" y="0"/>
              <a:ext cx="1143000" cy="96012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4" name="Selected…"/>
            <p:cNvSpPr txBox="1"/>
            <p:nvPr/>
          </p:nvSpPr>
          <p:spPr>
            <a:xfrm>
              <a:off x="97351" y="256540"/>
              <a:ext cx="948298" cy="447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Selected</a:t>
              </a:r>
            </a:p>
            <a:p>
              <a:pPr algn="ctr">
                <a:defRPr b="1" sz="12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skill</a:t>
              </a:r>
            </a:p>
          </p:txBody>
        </p:sp>
      </p:grpSp>
      <p:grpSp>
        <p:nvGrpSpPr>
          <p:cNvPr id="428" name="Rounded Rectangle 10"/>
          <p:cNvGrpSpPr/>
          <p:nvPr/>
        </p:nvGrpSpPr>
        <p:grpSpPr>
          <a:xfrm>
            <a:off x="4937759" y="1828800"/>
            <a:ext cx="1143001" cy="960120"/>
            <a:chOff x="0" y="0"/>
            <a:chExt cx="1143000" cy="960119"/>
          </a:xfrm>
        </p:grpSpPr>
        <p:sp>
          <p:nvSpPr>
            <p:cNvPr id="426" name="Rounded Rectangle"/>
            <p:cNvSpPr/>
            <p:nvPr/>
          </p:nvSpPr>
          <p:spPr>
            <a:xfrm>
              <a:off x="0" y="0"/>
              <a:ext cx="1143000" cy="960120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9525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27" name="Retrieved…"/>
            <p:cNvSpPr txBox="1"/>
            <p:nvPr/>
          </p:nvSpPr>
          <p:spPr>
            <a:xfrm>
              <a:off x="97351" y="256540"/>
              <a:ext cx="948298" cy="447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Retrieved</a:t>
              </a:r>
            </a:p>
            <a:p>
              <a:pPr algn="ctr">
                <a:defRPr b="1" sz="12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docs</a:t>
              </a:r>
            </a:p>
          </p:txBody>
        </p:sp>
      </p:grpSp>
      <p:grpSp>
        <p:nvGrpSpPr>
          <p:cNvPr id="431" name="Rounded Rectangle 11"/>
          <p:cNvGrpSpPr/>
          <p:nvPr/>
        </p:nvGrpSpPr>
        <p:grpSpPr>
          <a:xfrm>
            <a:off x="6309359" y="1828800"/>
            <a:ext cx="1143001" cy="960120"/>
            <a:chOff x="0" y="0"/>
            <a:chExt cx="1143000" cy="960119"/>
          </a:xfrm>
        </p:grpSpPr>
        <p:sp>
          <p:nvSpPr>
            <p:cNvPr id="429" name="Rounded Rectangle"/>
            <p:cNvSpPr/>
            <p:nvPr/>
          </p:nvSpPr>
          <p:spPr>
            <a:xfrm>
              <a:off x="0" y="0"/>
              <a:ext cx="1143000" cy="960120"/>
            </a:xfrm>
            <a:prstGeom prst="roundRect">
              <a:avLst>
                <a:gd name="adj" fmla="val 16667"/>
              </a:avLst>
            </a:prstGeom>
            <a:solidFill>
              <a:srgbClr val="FFF7ED"/>
            </a:solidFill>
            <a:ln w="9525" cap="flat">
              <a:solidFill>
                <a:srgbClr val="EA580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30" name="Tool…"/>
            <p:cNvSpPr txBox="1"/>
            <p:nvPr/>
          </p:nvSpPr>
          <p:spPr>
            <a:xfrm>
              <a:off x="97351" y="256540"/>
              <a:ext cx="948298" cy="447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EA580C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Tool</a:t>
              </a:r>
            </a:p>
            <a:p>
              <a:pPr algn="ctr">
                <a:defRPr b="1" sz="1200">
                  <a:solidFill>
                    <a:srgbClr val="EA580C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results</a:t>
              </a:r>
            </a:p>
          </p:txBody>
        </p:sp>
      </p:grpSp>
      <p:grpSp>
        <p:nvGrpSpPr>
          <p:cNvPr id="434" name="Rounded Rectangle 12"/>
          <p:cNvGrpSpPr/>
          <p:nvPr/>
        </p:nvGrpSpPr>
        <p:grpSpPr>
          <a:xfrm>
            <a:off x="7680959" y="1828800"/>
            <a:ext cx="1143001" cy="960120"/>
            <a:chOff x="0" y="0"/>
            <a:chExt cx="1143000" cy="960119"/>
          </a:xfrm>
        </p:grpSpPr>
        <p:sp>
          <p:nvSpPr>
            <p:cNvPr id="432" name="Rounded Rectangle"/>
            <p:cNvSpPr/>
            <p:nvPr/>
          </p:nvSpPr>
          <p:spPr>
            <a:xfrm>
              <a:off x="0" y="0"/>
              <a:ext cx="1143000" cy="960120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9525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33" name="User…"/>
            <p:cNvSpPr txBox="1"/>
            <p:nvPr/>
          </p:nvSpPr>
          <p:spPr>
            <a:xfrm>
              <a:off x="97351" y="256540"/>
              <a:ext cx="948298" cy="447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2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User</a:t>
              </a:r>
            </a:p>
            <a:p>
              <a:pPr algn="ctr">
                <a:defRPr b="1" sz="12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request</a:t>
              </a:r>
            </a:p>
          </p:txBody>
        </p:sp>
      </p:grpSp>
      <p:grpSp>
        <p:nvGrpSpPr>
          <p:cNvPr id="437" name="Rounded Rectangle 13"/>
          <p:cNvGrpSpPr/>
          <p:nvPr/>
        </p:nvGrpSpPr>
        <p:grpSpPr>
          <a:xfrm>
            <a:off x="3749038" y="3246120"/>
            <a:ext cx="3749040" cy="731521"/>
            <a:chOff x="0" y="0"/>
            <a:chExt cx="3749038" cy="731519"/>
          </a:xfrm>
        </p:grpSpPr>
        <p:sp>
          <p:nvSpPr>
            <p:cNvPr id="435" name="Rounded Rectangle"/>
            <p:cNvSpPr/>
            <p:nvPr/>
          </p:nvSpPr>
          <p:spPr>
            <a:xfrm>
              <a:off x="0" y="0"/>
              <a:ext cx="3749039" cy="73152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36" name="Orchestrator / runtime packaging"/>
            <p:cNvSpPr txBox="1"/>
            <p:nvPr/>
          </p:nvSpPr>
          <p:spPr>
            <a:xfrm>
              <a:off x="86192" y="205740"/>
              <a:ext cx="3576655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Orchestrator / runtime packaging</a:t>
              </a:r>
            </a:p>
          </p:txBody>
        </p:sp>
      </p:grpSp>
      <p:sp>
        <p:nvSpPr>
          <p:cNvPr id="438" name="Chevron 14"/>
          <p:cNvSpPr/>
          <p:nvPr/>
        </p:nvSpPr>
        <p:spPr>
          <a:xfrm rot="5400000">
            <a:off x="1371600" y="2816351"/>
            <a:ext cx="365760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39" name="Chevron 15"/>
          <p:cNvSpPr/>
          <p:nvPr/>
        </p:nvSpPr>
        <p:spPr>
          <a:xfrm rot="5400000">
            <a:off x="2743200" y="2816351"/>
            <a:ext cx="365760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0" name="Chevron 16"/>
          <p:cNvSpPr/>
          <p:nvPr/>
        </p:nvSpPr>
        <p:spPr>
          <a:xfrm rot="5400000">
            <a:off x="4114800" y="2816351"/>
            <a:ext cx="365760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1" name="Chevron 17"/>
          <p:cNvSpPr/>
          <p:nvPr/>
        </p:nvSpPr>
        <p:spPr>
          <a:xfrm rot="5400000">
            <a:off x="5486400" y="2816351"/>
            <a:ext cx="365760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2" name="Chevron 18"/>
          <p:cNvSpPr/>
          <p:nvPr/>
        </p:nvSpPr>
        <p:spPr>
          <a:xfrm rot="5400000">
            <a:off x="6858000" y="2816351"/>
            <a:ext cx="365760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43" name="Chevron 19"/>
          <p:cNvSpPr/>
          <p:nvPr/>
        </p:nvSpPr>
        <p:spPr>
          <a:xfrm rot="5400000">
            <a:off x="8229600" y="2816351"/>
            <a:ext cx="365760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46" name="Rounded Rectangle 20"/>
          <p:cNvGrpSpPr/>
          <p:nvPr/>
        </p:nvGrpSpPr>
        <p:grpSpPr>
          <a:xfrm>
            <a:off x="4114800" y="4480559"/>
            <a:ext cx="1737361" cy="1005841"/>
            <a:chOff x="0" y="0"/>
            <a:chExt cx="1737360" cy="1005839"/>
          </a:xfrm>
        </p:grpSpPr>
        <p:sp>
          <p:nvSpPr>
            <p:cNvPr id="444" name="Rounded Rectangle"/>
            <p:cNvSpPr/>
            <p:nvPr/>
          </p:nvSpPr>
          <p:spPr>
            <a:xfrm>
              <a:off x="0" y="0"/>
              <a:ext cx="1737361" cy="100584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5" name="LLM"/>
            <p:cNvSpPr txBox="1"/>
            <p:nvPr/>
          </p:nvSpPr>
          <p:spPr>
            <a:xfrm>
              <a:off x="99583" y="317499"/>
              <a:ext cx="1538194" cy="370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LLM</a:t>
              </a:r>
            </a:p>
          </p:txBody>
        </p:sp>
      </p:grpSp>
      <p:grpSp>
        <p:nvGrpSpPr>
          <p:cNvPr id="449" name="Rounded Rectangle 21"/>
          <p:cNvGrpSpPr/>
          <p:nvPr/>
        </p:nvGrpSpPr>
        <p:grpSpPr>
          <a:xfrm>
            <a:off x="6812280" y="4572000"/>
            <a:ext cx="3200401" cy="777241"/>
            <a:chOff x="0" y="0"/>
            <a:chExt cx="3200400" cy="777240"/>
          </a:xfrm>
        </p:grpSpPr>
        <p:sp>
          <p:nvSpPr>
            <p:cNvPr id="447" name="Rounded Rectangle"/>
            <p:cNvSpPr/>
            <p:nvPr/>
          </p:nvSpPr>
          <p:spPr>
            <a:xfrm>
              <a:off x="0" y="0"/>
              <a:ext cx="3200400" cy="777241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8" name="Assistant / agent response"/>
            <p:cNvSpPr txBox="1"/>
            <p:nvPr/>
          </p:nvSpPr>
          <p:spPr>
            <a:xfrm>
              <a:off x="88424" y="234949"/>
              <a:ext cx="3023552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4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Assistant / agent response</a:t>
              </a:r>
            </a:p>
          </p:txBody>
        </p:sp>
      </p:grpSp>
      <p:sp>
        <p:nvSpPr>
          <p:cNvPr id="450" name="Chevron 22"/>
          <p:cNvSpPr/>
          <p:nvPr/>
        </p:nvSpPr>
        <p:spPr>
          <a:xfrm>
            <a:off x="6053328" y="4782311"/>
            <a:ext cx="502921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3" name="TextBox 2"/>
          <p:cNvSpPr txBox="1"/>
          <p:nvPr/>
        </p:nvSpPr>
        <p:spPr>
          <a:xfrm>
            <a:off x="594359" y="310895"/>
            <a:ext cx="73919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AGENTS</a:t>
            </a:r>
          </a:p>
        </p:txBody>
      </p:sp>
      <p:sp>
        <p:nvSpPr>
          <p:cNvPr id="454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Types of agents you can build</a:t>
            </a:r>
          </a:p>
        </p:txBody>
      </p:sp>
      <p:sp>
        <p:nvSpPr>
          <p:cNvPr id="455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Examples across technical and business workflows</a:t>
            </a:r>
          </a:p>
        </p:txBody>
      </p:sp>
      <p:sp>
        <p:nvSpPr>
          <p:cNvPr id="456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457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16</a:t>
            </a:r>
          </a:p>
        </p:txBody>
      </p:sp>
      <p:grpSp>
        <p:nvGrpSpPr>
          <p:cNvPr id="460" name="Rounded Rectangle 7"/>
          <p:cNvGrpSpPr/>
          <p:nvPr/>
        </p:nvGrpSpPr>
        <p:grpSpPr>
          <a:xfrm>
            <a:off x="777240" y="1554480"/>
            <a:ext cx="3474721" cy="2926080"/>
            <a:chOff x="0" y="0"/>
            <a:chExt cx="3474720" cy="2926079"/>
          </a:xfrm>
        </p:grpSpPr>
        <p:sp>
          <p:nvSpPr>
            <p:cNvPr id="458" name="Rounded Rectangle"/>
            <p:cNvSpPr/>
            <p:nvPr/>
          </p:nvSpPr>
          <p:spPr>
            <a:xfrm>
              <a:off x="0" y="0"/>
              <a:ext cx="3474721" cy="29260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59" name="Developer agents…"/>
            <p:cNvSpPr txBox="1"/>
            <p:nvPr/>
          </p:nvSpPr>
          <p:spPr>
            <a:xfrm>
              <a:off x="174589" y="840739"/>
              <a:ext cx="3125542" cy="1244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Developer agents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Architect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Software Engineer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QA / Test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DevOps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Security Review</a:t>
              </a:r>
            </a:p>
          </p:txBody>
        </p:sp>
      </p:grpSp>
      <p:grpSp>
        <p:nvGrpSpPr>
          <p:cNvPr id="463" name="Rounded Rectangle 8"/>
          <p:cNvGrpSpPr/>
          <p:nvPr/>
        </p:nvGrpSpPr>
        <p:grpSpPr>
          <a:xfrm>
            <a:off x="4370832" y="1554480"/>
            <a:ext cx="3474721" cy="2926080"/>
            <a:chOff x="0" y="0"/>
            <a:chExt cx="3474720" cy="2926079"/>
          </a:xfrm>
        </p:grpSpPr>
        <p:sp>
          <p:nvSpPr>
            <p:cNvPr id="461" name="Rounded Rectangle"/>
            <p:cNvSpPr/>
            <p:nvPr/>
          </p:nvSpPr>
          <p:spPr>
            <a:xfrm>
              <a:off x="0" y="0"/>
              <a:ext cx="3474721" cy="29260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62" name="Business agents…"/>
            <p:cNvSpPr txBox="1"/>
            <p:nvPr/>
          </p:nvSpPr>
          <p:spPr>
            <a:xfrm>
              <a:off x="174589" y="840739"/>
              <a:ext cx="3125542" cy="1244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Business agents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Meeting Assistant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Project Manager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Product / Intake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Priority / Routing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Support</a:t>
              </a:r>
            </a:p>
          </p:txBody>
        </p:sp>
      </p:grpSp>
      <p:grpSp>
        <p:nvGrpSpPr>
          <p:cNvPr id="466" name="Rounded Rectangle 9"/>
          <p:cNvGrpSpPr/>
          <p:nvPr/>
        </p:nvGrpSpPr>
        <p:grpSpPr>
          <a:xfrm>
            <a:off x="7964423" y="1554480"/>
            <a:ext cx="3474722" cy="2926080"/>
            <a:chOff x="0" y="0"/>
            <a:chExt cx="3474720" cy="2926079"/>
          </a:xfrm>
        </p:grpSpPr>
        <p:sp>
          <p:nvSpPr>
            <p:cNvPr id="464" name="Rounded Rectangle"/>
            <p:cNvSpPr/>
            <p:nvPr/>
          </p:nvSpPr>
          <p:spPr>
            <a:xfrm>
              <a:off x="0" y="0"/>
              <a:ext cx="3474721" cy="29260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65" name="Multimodal &amp; domain agents…"/>
            <p:cNvSpPr txBox="1"/>
            <p:nvPr/>
          </p:nvSpPr>
          <p:spPr>
            <a:xfrm>
              <a:off x="174589" y="840739"/>
              <a:ext cx="3125542" cy="1244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Multimodal &amp; domain agents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Document / PDF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Image / screenshot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Audio / transcript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Compliance / cost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Healthcare / operations</a:t>
              </a:r>
            </a:p>
          </p:txBody>
        </p:sp>
      </p:grpSp>
      <p:grpSp>
        <p:nvGrpSpPr>
          <p:cNvPr id="469" name="Rounded Rectangle 10"/>
          <p:cNvGrpSpPr/>
          <p:nvPr/>
        </p:nvGrpSpPr>
        <p:grpSpPr>
          <a:xfrm>
            <a:off x="777240" y="4892040"/>
            <a:ext cx="10661905" cy="868681"/>
            <a:chOff x="0" y="0"/>
            <a:chExt cx="10661904" cy="868680"/>
          </a:xfrm>
        </p:grpSpPr>
        <p:sp>
          <p:nvSpPr>
            <p:cNvPr id="467" name="Rounded Rectangle"/>
            <p:cNvSpPr/>
            <p:nvPr/>
          </p:nvSpPr>
          <p:spPr>
            <a:xfrm>
              <a:off x="0" y="0"/>
              <a:ext cx="10661905" cy="868681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2700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68" name="Demo focus…"/>
            <p:cNvSpPr txBox="1"/>
            <p:nvPr/>
          </p:nvSpPr>
          <p:spPr>
            <a:xfrm>
              <a:off x="74155" y="142240"/>
              <a:ext cx="10513594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Demo focus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Engineering Manager Agent + Software Engineer Agent will be highlighted in the software workflow demo.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72" name="TextBox 2"/>
          <p:cNvSpPr txBox="1"/>
          <p:nvPr/>
        </p:nvSpPr>
        <p:spPr>
          <a:xfrm>
            <a:off x="594359" y="310895"/>
            <a:ext cx="6884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DEMO 1</a:t>
            </a:r>
          </a:p>
        </p:txBody>
      </p:sp>
      <p:sp>
        <p:nvSpPr>
          <p:cNvPr id="473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From transcript to business outputs</a:t>
            </a:r>
          </a:p>
        </p:txBody>
      </p:sp>
      <p:sp>
        <p:nvSpPr>
          <p:cNvPr id="474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 multi-agent workflow for managers and non-technical users</a:t>
            </a:r>
          </a:p>
        </p:txBody>
      </p:sp>
      <p:sp>
        <p:nvSpPr>
          <p:cNvPr id="475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476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17</a:t>
            </a:r>
          </a:p>
        </p:txBody>
      </p:sp>
      <p:grpSp>
        <p:nvGrpSpPr>
          <p:cNvPr id="479" name="Rounded Rectangle 7"/>
          <p:cNvGrpSpPr/>
          <p:nvPr/>
        </p:nvGrpSpPr>
        <p:grpSpPr>
          <a:xfrm>
            <a:off x="777240" y="1645920"/>
            <a:ext cx="10652760" cy="1051561"/>
            <a:chOff x="0" y="0"/>
            <a:chExt cx="10652759" cy="1051560"/>
          </a:xfrm>
        </p:grpSpPr>
        <p:sp>
          <p:nvSpPr>
            <p:cNvPr id="477" name="Rounded Rectangle"/>
            <p:cNvSpPr/>
            <p:nvPr/>
          </p:nvSpPr>
          <p:spPr>
            <a:xfrm>
              <a:off x="0" y="0"/>
              <a:ext cx="10652760" cy="1051561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12700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78" name="Input…"/>
            <p:cNvSpPr txBox="1"/>
            <p:nvPr/>
          </p:nvSpPr>
          <p:spPr>
            <a:xfrm>
              <a:off x="83082" y="233680"/>
              <a:ext cx="10486596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Input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Meeting transcript or discussion notes</a:t>
              </a:r>
            </a:p>
          </p:txBody>
        </p:sp>
      </p:grpSp>
      <p:grpSp>
        <p:nvGrpSpPr>
          <p:cNvPr id="482" name="Rounded Rectangle 8"/>
          <p:cNvGrpSpPr/>
          <p:nvPr/>
        </p:nvGrpSpPr>
        <p:grpSpPr>
          <a:xfrm>
            <a:off x="1005839" y="2788920"/>
            <a:ext cx="2386585" cy="822961"/>
            <a:chOff x="0" y="0"/>
            <a:chExt cx="2386583" cy="822960"/>
          </a:xfrm>
        </p:grpSpPr>
        <p:sp>
          <p:nvSpPr>
            <p:cNvPr id="480" name="Rounded Rectangle"/>
            <p:cNvSpPr/>
            <p:nvPr/>
          </p:nvSpPr>
          <p:spPr>
            <a:xfrm>
              <a:off x="0" y="0"/>
              <a:ext cx="2386584" cy="822961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1" name="Transcript"/>
            <p:cNvSpPr txBox="1"/>
            <p:nvPr/>
          </p:nvSpPr>
          <p:spPr>
            <a:xfrm>
              <a:off x="90656" y="251460"/>
              <a:ext cx="2205272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Transcript</a:t>
              </a:r>
            </a:p>
          </p:txBody>
        </p:sp>
      </p:grpSp>
      <p:sp>
        <p:nvSpPr>
          <p:cNvPr id="483" name="Chevron 9"/>
          <p:cNvSpPr/>
          <p:nvPr/>
        </p:nvSpPr>
        <p:spPr>
          <a:xfrm>
            <a:off x="3392423" y="305409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86" name="Rounded Rectangle 10"/>
          <p:cNvGrpSpPr/>
          <p:nvPr/>
        </p:nvGrpSpPr>
        <p:grpSpPr>
          <a:xfrm>
            <a:off x="3502152" y="2788920"/>
            <a:ext cx="2386585" cy="822961"/>
            <a:chOff x="0" y="0"/>
            <a:chExt cx="2386583" cy="822960"/>
          </a:xfrm>
        </p:grpSpPr>
        <p:sp>
          <p:nvSpPr>
            <p:cNvPr id="484" name="Rounded Rectangle"/>
            <p:cNvSpPr/>
            <p:nvPr/>
          </p:nvSpPr>
          <p:spPr>
            <a:xfrm>
              <a:off x="0" y="0"/>
              <a:ext cx="2386584" cy="822961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9525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5" name="Orchestrator"/>
            <p:cNvSpPr txBox="1"/>
            <p:nvPr/>
          </p:nvSpPr>
          <p:spPr>
            <a:xfrm>
              <a:off x="90656" y="251460"/>
              <a:ext cx="2205272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Orchestrator</a:t>
              </a:r>
            </a:p>
          </p:txBody>
        </p:sp>
      </p:grpSp>
      <p:sp>
        <p:nvSpPr>
          <p:cNvPr id="487" name="Chevron 11"/>
          <p:cNvSpPr/>
          <p:nvPr/>
        </p:nvSpPr>
        <p:spPr>
          <a:xfrm>
            <a:off x="5888735" y="305409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90" name="Rounded Rectangle 12"/>
          <p:cNvGrpSpPr/>
          <p:nvPr/>
        </p:nvGrpSpPr>
        <p:grpSpPr>
          <a:xfrm>
            <a:off x="5998464" y="2788920"/>
            <a:ext cx="2386585" cy="822961"/>
            <a:chOff x="0" y="0"/>
            <a:chExt cx="2386583" cy="822960"/>
          </a:xfrm>
        </p:grpSpPr>
        <p:sp>
          <p:nvSpPr>
            <p:cNvPr id="488" name="Rounded Rectangle"/>
            <p:cNvSpPr/>
            <p:nvPr/>
          </p:nvSpPr>
          <p:spPr>
            <a:xfrm>
              <a:off x="0" y="0"/>
              <a:ext cx="2386584" cy="822961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9525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89" name="Specialist agents"/>
            <p:cNvSpPr txBox="1"/>
            <p:nvPr/>
          </p:nvSpPr>
          <p:spPr>
            <a:xfrm>
              <a:off x="90656" y="251460"/>
              <a:ext cx="2205272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Specialist agents</a:t>
              </a:r>
            </a:p>
          </p:txBody>
        </p:sp>
      </p:grpSp>
      <p:sp>
        <p:nvSpPr>
          <p:cNvPr id="491" name="Chevron 13"/>
          <p:cNvSpPr/>
          <p:nvPr/>
        </p:nvSpPr>
        <p:spPr>
          <a:xfrm>
            <a:off x="8385047" y="305409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494" name="Rounded Rectangle 14"/>
          <p:cNvGrpSpPr/>
          <p:nvPr/>
        </p:nvGrpSpPr>
        <p:grpSpPr>
          <a:xfrm>
            <a:off x="8494776" y="2788920"/>
            <a:ext cx="2386585" cy="822961"/>
            <a:chOff x="0" y="0"/>
            <a:chExt cx="2386583" cy="822960"/>
          </a:xfrm>
        </p:grpSpPr>
        <p:sp>
          <p:nvSpPr>
            <p:cNvPr id="492" name="Rounded Rectangle"/>
            <p:cNvSpPr/>
            <p:nvPr/>
          </p:nvSpPr>
          <p:spPr>
            <a:xfrm>
              <a:off x="0" y="0"/>
              <a:ext cx="2386584" cy="822961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3" name="Business outputs"/>
            <p:cNvSpPr txBox="1"/>
            <p:nvPr/>
          </p:nvSpPr>
          <p:spPr>
            <a:xfrm>
              <a:off x="90656" y="251460"/>
              <a:ext cx="2205272" cy="3200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Business outputs</a:t>
              </a:r>
            </a:p>
          </p:txBody>
        </p:sp>
      </p:grpSp>
      <p:grpSp>
        <p:nvGrpSpPr>
          <p:cNvPr id="497" name="Rounded Rectangle 15"/>
          <p:cNvGrpSpPr/>
          <p:nvPr/>
        </p:nvGrpSpPr>
        <p:grpSpPr>
          <a:xfrm>
            <a:off x="777240" y="4343400"/>
            <a:ext cx="10652760" cy="1188720"/>
            <a:chOff x="0" y="0"/>
            <a:chExt cx="10652759" cy="1188719"/>
          </a:xfrm>
        </p:grpSpPr>
        <p:sp>
          <p:nvSpPr>
            <p:cNvPr id="495" name="Rounded Rectangle"/>
            <p:cNvSpPr/>
            <p:nvPr/>
          </p:nvSpPr>
          <p:spPr>
            <a:xfrm>
              <a:off x="0" y="0"/>
              <a:ext cx="10652760" cy="118872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96" name="Outputs…"/>
            <p:cNvSpPr txBox="1"/>
            <p:nvPr/>
          </p:nvSpPr>
          <p:spPr>
            <a:xfrm>
              <a:off x="89779" y="302259"/>
              <a:ext cx="1047320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Outputs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Summary • Decisions • Action items • Intake document • Priority list • Follow-up agenda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0" name="TextBox 2"/>
          <p:cNvSpPr txBox="1"/>
          <p:nvPr/>
        </p:nvSpPr>
        <p:spPr>
          <a:xfrm>
            <a:off x="594359" y="310895"/>
            <a:ext cx="6884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DEMO 1</a:t>
            </a:r>
          </a:p>
        </p:txBody>
      </p:sp>
      <p:sp>
        <p:nvSpPr>
          <p:cNvPr id="501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Manager workflow orchestration</a:t>
            </a:r>
          </a:p>
        </p:txBody>
      </p:sp>
      <p:sp>
        <p:nvSpPr>
          <p:cNvPr id="502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How multiple agents collaborate inside the business demo</a:t>
            </a:r>
          </a:p>
        </p:txBody>
      </p:sp>
      <p:sp>
        <p:nvSpPr>
          <p:cNvPr id="503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504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18</a:t>
            </a:r>
          </a:p>
        </p:txBody>
      </p:sp>
      <p:grpSp>
        <p:nvGrpSpPr>
          <p:cNvPr id="507" name="Rounded Rectangle 7"/>
          <p:cNvGrpSpPr/>
          <p:nvPr/>
        </p:nvGrpSpPr>
        <p:grpSpPr>
          <a:xfrm>
            <a:off x="4617720" y="1325880"/>
            <a:ext cx="2057401" cy="640081"/>
            <a:chOff x="0" y="0"/>
            <a:chExt cx="2057400" cy="640080"/>
          </a:xfrm>
        </p:grpSpPr>
        <p:sp>
          <p:nvSpPr>
            <p:cNvPr id="505" name="Rounded Rectangle"/>
            <p:cNvSpPr/>
            <p:nvPr/>
          </p:nvSpPr>
          <p:spPr>
            <a:xfrm>
              <a:off x="0" y="0"/>
              <a:ext cx="2057400" cy="640081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12700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6" name="Transcript"/>
            <p:cNvSpPr txBox="1"/>
            <p:nvPr/>
          </p:nvSpPr>
          <p:spPr>
            <a:xfrm>
              <a:off x="62995" y="110490"/>
              <a:ext cx="1931410" cy="419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Transcript</a:t>
              </a:r>
            </a:p>
          </p:txBody>
        </p:sp>
      </p:grpSp>
      <p:grpSp>
        <p:nvGrpSpPr>
          <p:cNvPr id="510" name="Rounded Rectangle 8"/>
          <p:cNvGrpSpPr/>
          <p:nvPr/>
        </p:nvGrpSpPr>
        <p:grpSpPr>
          <a:xfrm>
            <a:off x="4297679" y="2377439"/>
            <a:ext cx="2697481" cy="731521"/>
            <a:chOff x="0" y="0"/>
            <a:chExt cx="2697479" cy="731519"/>
          </a:xfrm>
        </p:grpSpPr>
        <p:sp>
          <p:nvSpPr>
            <p:cNvPr id="508" name="Rounded Rectangle"/>
            <p:cNvSpPr/>
            <p:nvPr/>
          </p:nvSpPr>
          <p:spPr>
            <a:xfrm>
              <a:off x="0" y="0"/>
              <a:ext cx="2697480" cy="731520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12700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09" name="Orchestrator"/>
            <p:cNvSpPr txBox="1"/>
            <p:nvPr/>
          </p:nvSpPr>
          <p:spPr>
            <a:xfrm>
              <a:off x="67459" y="156209"/>
              <a:ext cx="2562562" cy="419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4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Orchestrator</a:t>
              </a:r>
            </a:p>
          </p:txBody>
        </p:sp>
      </p:grpSp>
      <p:grpSp>
        <p:nvGrpSpPr>
          <p:cNvPr id="513" name="Rounded Rectangle 9"/>
          <p:cNvGrpSpPr/>
          <p:nvPr/>
        </p:nvGrpSpPr>
        <p:grpSpPr>
          <a:xfrm>
            <a:off x="914400" y="3840479"/>
            <a:ext cx="1828800" cy="777241"/>
            <a:chOff x="0" y="0"/>
            <a:chExt cx="1828800" cy="777240"/>
          </a:xfrm>
        </p:grpSpPr>
        <p:sp>
          <p:nvSpPr>
            <p:cNvPr id="511" name="Rounded Rectangle"/>
            <p:cNvSpPr/>
            <p:nvPr/>
          </p:nvSpPr>
          <p:spPr>
            <a:xfrm>
              <a:off x="0" y="0"/>
              <a:ext cx="1828800" cy="777241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12700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2" name="Intake agent"/>
            <p:cNvSpPr txBox="1"/>
            <p:nvPr/>
          </p:nvSpPr>
          <p:spPr>
            <a:xfrm>
              <a:off x="69691" y="185419"/>
              <a:ext cx="1689418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Intake agent</a:t>
              </a:r>
            </a:p>
          </p:txBody>
        </p:sp>
      </p:grpSp>
      <p:grpSp>
        <p:nvGrpSpPr>
          <p:cNvPr id="516" name="Rounded Rectangle 10"/>
          <p:cNvGrpSpPr/>
          <p:nvPr/>
        </p:nvGrpSpPr>
        <p:grpSpPr>
          <a:xfrm>
            <a:off x="3246120" y="3840479"/>
            <a:ext cx="1828801" cy="777241"/>
            <a:chOff x="0" y="0"/>
            <a:chExt cx="1828800" cy="777240"/>
          </a:xfrm>
        </p:grpSpPr>
        <p:sp>
          <p:nvSpPr>
            <p:cNvPr id="514" name="Rounded Rectangle"/>
            <p:cNvSpPr/>
            <p:nvPr/>
          </p:nvSpPr>
          <p:spPr>
            <a:xfrm>
              <a:off x="0" y="0"/>
              <a:ext cx="1828800" cy="777241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12700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5" name="Priority agent"/>
            <p:cNvSpPr txBox="1"/>
            <p:nvPr/>
          </p:nvSpPr>
          <p:spPr>
            <a:xfrm>
              <a:off x="69691" y="185419"/>
              <a:ext cx="1689418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Priority agent</a:t>
              </a:r>
            </a:p>
          </p:txBody>
        </p:sp>
      </p:grpSp>
      <p:grpSp>
        <p:nvGrpSpPr>
          <p:cNvPr id="519" name="Rounded Rectangle 11"/>
          <p:cNvGrpSpPr/>
          <p:nvPr/>
        </p:nvGrpSpPr>
        <p:grpSpPr>
          <a:xfrm>
            <a:off x="5577840" y="3840479"/>
            <a:ext cx="1828801" cy="777241"/>
            <a:chOff x="0" y="0"/>
            <a:chExt cx="1828800" cy="777240"/>
          </a:xfrm>
        </p:grpSpPr>
        <p:sp>
          <p:nvSpPr>
            <p:cNvPr id="517" name="Rounded Rectangle"/>
            <p:cNvSpPr/>
            <p:nvPr/>
          </p:nvSpPr>
          <p:spPr>
            <a:xfrm>
              <a:off x="0" y="0"/>
              <a:ext cx="1828800" cy="777241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12700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18" name="Comms agent"/>
            <p:cNvSpPr txBox="1"/>
            <p:nvPr/>
          </p:nvSpPr>
          <p:spPr>
            <a:xfrm>
              <a:off x="69691" y="185419"/>
              <a:ext cx="1689418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Comms agent</a:t>
              </a:r>
            </a:p>
          </p:txBody>
        </p:sp>
      </p:grpSp>
      <p:grpSp>
        <p:nvGrpSpPr>
          <p:cNvPr id="522" name="Rounded Rectangle 12"/>
          <p:cNvGrpSpPr/>
          <p:nvPr/>
        </p:nvGrpSpPr>
        <p:grpSpPr>
          <a:xfrm>
            <a:off x="7909559" y="3840479"/>
            <a:ext cx="1828801" cy="777241"/>
            <a:chOff x="0" y="0"/>
            <a:chExt cx="1828800" cy="777240"/>
          </a:xfrm>
        </p:grpSpPr>
        <p:sp>
          <p:nvSpPr>
            <p:cNvPr id="520" name="Rounded Rectangle"/>
            <p:cNvSpPr/>
            <p:nvPr/>
          </p:nvSpPr>
          <p:spPr>
            <a:xfrm>
              <a:off x="0" y="0"/>
              <a:ext cx="1828800" cy="777241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12700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21" name="Agenda agent"/>
            <p:cNvSpPr txBox="1"/>
            <p:nvPr/>
          </p:nvSpPr>
          <p:spPr>
            <a:xfrm>
              <a:off x="69691" y="185419"/>
              <a:ext cx="1689418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Agenda agent</a:t>
              </a:r>
            </a:p>
          </p:txBody>
        </p:sp>
      </p:grpSp>
      <p:grpSp>
        <p:nvGrpSpPr>
          <p:cNvPr id="525" name="Rounded Rectangle 13"/>
          <p:cNvGrpSpPr/>
          <p:nvPr/>
        </p:nvGrpSpPr>
        <p:grpSpPr>
          <a:xfrm>
            <a:off x="1097280" y="5486400"/>
            <a:ext cx="1920240" cy="329185"/>
            <a:chOff x="0" y="0"/>
            <a:chExt cx="1920239" cy="329184"/>
          </a:xfrm>
        </p:grpSpPr>
        <p:sp>
          <p:nvSpPr>
            <p:cNvPr id="523" name="Rounded Rectangle"/>
            <p:cNvSpPr/>
            <p:nvPr/>
          </p:nvSpPr>
          <p:spPr>
            <a:xfrm>
              <a:off x="0" y="0"/>
              <a:ext cx="1920240" cy="329185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24" name="Summary"/>
            <p:cNvSpPr txBox="1"/>
            <p:nvPr/>
          </p:nvSpPr>
          <p:spPr>
            <a:xfrm>
              <a:off x="66551" y="42672"/>
              <a:ext cx="1787138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Summary</a:t>
              </a:r>
            </a:p>
          </p:txBody>
        </p:sp>
      </p:grpSp>
      <p:grpSp>
        <p:nvGrpSpPr>
          <p:cNvPr id="528" name="Rounded Rectangle 14"/>
          <p:cNvGrpSpPr/>
          <p:nvPr/>
        </p:nvGrpSpPr>
        <p:grpSpPr>
          <a:xfrm>
            <a:off x="3703320" y="5486400"/>
            <a:ext cx="1920241" cy="329185"/>
            <a:chOff x="0" y="0"/>
            <a:chExt cx="1920239" cy="329184"/>
          </a:xfrm>
        </p:grpSpPr>
        <p:sp>
          <p:nvSpPr>
            <p:cNvPr id="526" name="Rounded Rectangle"/>
            <p:cNvSpPr/>
            <p:nvPr/>
          </p:nvSpPr>
          <p:spPr>
            <a:xfrm>
              <a:off x="0" y="0"/>
              <a:ext cx="1920240" cy="329185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27" name="Priority list"/>
            <p:cNvSpPr txBox="1"/>
            <p:nvPr/>
          </p:nvSpPr>
          <p:spPr>
            <a:xfrm>
              <a:off x="66551" y="42672"/>
              <a:ext cx="1787138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Priority list</a:t>
              </a:r>
            </a:p>
          </p:txBody>
        </p:sp>
      </p:grpSp>
      <p:grpSp>
        <p:nvGrpSpPr>
          <p:cNvPr id="531" name="Rounded Rectangle 15"/>
          <p:cNvGrpSpPr/>
          <p:nvPr/>
        </p:nvGrpSpPr>
        <p:grpSpPr>
          <a:xfrm>
            <a:off x="6309359" y="5486400"/>
            <a:ext cx="1920241" cy="329185"/>
            <a:chOff x="0" y="0"/>
            <a:chExt cx="1920239" cy="329184"/>
          </a:xfrm>
        </p:grpSpPr>
        <p:sp>
          <p:nvSpPr>
            <p:cNvPr id="529" name="Rounded Rectangle"/>
            <p:cNvSpPr/>
            <p:nvPr/>
          </p:nvSpPr>
          <p:spPr>
            <a:xfrm>
              <a:off x="0" y="0"/>
              <a:ext cx="1920240" cy="329185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30" name="Action Plan"/>
            <p:cNvSpPr txBox="1"/>
            <p:nvPr/>
          </p:nvSpPr>
          <p:spPr>
            <a:xfrm>
              <a:off x="66551" y="42672"/>
              <a:ext cx="1787138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Action Plan</a:t>
              </a:r>
            </a:p>
          </p:txBody>
        </p:sp>
      </p:grpSp>
      <p:grpSp>
        <p:nvGrpSpPr>
          <p:cNvPr id="534" name="Rounded Rectangle 16"/>
          <p:cNvGrpSpPr/>
          <p:nvPr/>
        </p:nvGrpSpPr>
        <p:grpSpPr>
          <a:xfrm>
            <a:off x="8915400" y="5486400"/>
            <a:ext cx="1920240" cy="329185"/>
            <a:chOff x="0" y="0"/>
            <a:chExt cx="1920239" cy="329184"/>
          </a:xfrm>
        </p:grpSpPr>
        <p:sp>
          <p:nvSpPr>
            <p:cNvPr id="532" name="Rounded Rectangle"/>
            <p:cNvSpPr/>
            <p:nvPr/>
          </p:nvSpPr>
          <p:spPr>
            <a:xfrm>
              <a:off x="0" y="0"/>
              <a:ext cx="1920240" cy="329185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33" name="Next agenda"/>
            <p:cNvSpPr txBox="1"/>
            <p:nvPr/>
          </p:nvSpPr>
          <p:spPr>
            <a:xfrm>
              <a:off x="66551" y="42672"/>
              <a:ext cx="1787138" cy="243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0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Next agenda</a:t>
              </a:r>
            </a:p>
          </p:txBody>
        </p:sp>
      </p:grpSp>
      <p:sp>
        <p:nvSpPr>
          <p:cNvPr id="535" name="Chevron 17"/>
          <p:cNvSpPr/>
          <p:nvPr/>
        </p:nvSpPr>
        <p:spPr>
          <a:xfrm rot="5400000">
            <a:off x="5212079" y="1965960"/>
            <a:ext cx="365761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6" name="Chevron 18"/>
          <p:cNvSpPr/>
          <p:nvPr/>
        </p:nvSpPr>
        <p:spPr>
          <a:xfrm rot="5400000">
            <a:off x="1691639" y="3291840"/>
            <a:ext cx="365761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7" name="Chevron 19"/>
          <p:cNvSpPr/>
          <p:nvPr/>
        </p:nvSpPr>
        <p:spPr>
          <a:xfrm rot="5400000">
            <a:off x="4023359" y="3291840"/>
            <a:ext cx="365761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8" name="Chevron 20"/>
          <p:cNvSpPr/>
          <p:nvPr/>
        </p:nvSpPr>
        <p:spPr>
          <a:xfrm rot="5400000">
            <a:off x="6355079" y="3291840"/>
            <a:ext cx="365761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9" name="Chevron 21"/>
          <p:cNvSpPr/>
          <p:nvPr/>
        </p:nvSpPr>
        <p:spPr>
          <a:xfrm rot="5400000">
            <a:off x="8686800" y="3291840"/>
            <a:ext cx="365760" cy="219457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42" name="Rounded Rectangle 22"/>
          <p:cNvGrpSpPr/>
          <p:nvPr/>
        </p:nvGrpSpPr>
        <p:grpSpPr>
          <a:xfrm>
            <a:off x="822960" y="1645920"/>
            <a:ext cx="2743201" cy="914401"/>
            <a:chOff x="0" y="0"/>
            <a:chExt cx="2743200" cy="914400"/>
          </a:xfrm>
        </p:grpSpPr>
        <p:sp>
          <p:nvSpPr>
            <p:cNvPr id="540" name="Rounded Rectangle"/>
            <p:cNvSpPr/>
            <p:nvPr/>
          </p:nvSpPr>
          <p:spPr>
            <a:xfrm>
              <a:off x="0" y="0"/>
              <a:ext cx="2743200" cy="9144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41" name="Purpose…"/>
            <p:cNvSpPr txBox="1"/>
            <p:nvPr/>
          </p:nvSpPr>
          <p:spPr>
            <a:xfrm>
              <a:off x="76387" y="82550"/>
              <a:ext cx="2590426" cy="74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Purpose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Turn unstructured discussion into structured follow-up work.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45" name="TextBox 2"/>
          <p:cNvSpPr txBox="1"/>
          <p:nvPr/>
        </p:nvSpPr>
        <p:spPr>
          <a:xfrm>
            <a:off x="594359" y="310895"/>
            <a:ext cx="6884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DEMO 2</a:t>
            </a:r>
          </a:p>
        </p:txBody>
      </p:sp>
      <p:sp>
        <p:nvSpPr>
          <p:cNvPr id="546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Application we will build</a:t>
            </a:r>
          </a:p>
        </p:txBody>
      </p:sp>
      <p:sp>
        <p:nvSpPr>
          <p:cNvPr id="547" name="TextBox 4"/>
          <p:cNvSpPr txBox="1"/>
          <p:nvPr/>
        </p:nvSpPr>
        <p:spPr>
          <a:xfrm>
            <a:off x="594360" y="969263"/>
            <a:ext cx="9966961" cy="259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Ireland dataset → database → dashboards</a:t>
            </a:r>
          </a:p>
        </p:txBody>
      </p:sp>
      <p:sp>
        <p:nvSpPr>
          <p:cNvPr id="548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549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19</a:t>
            </a:r>
          </a:p>
        </p:txBody>
      </p:sp>
      <p:grpSp>
        <p:nvGrpSpPr>
          <p:cNvPr id="552" name="Rounded Rectangle 7"/>
          <p:cNvGrpSpPr/>
          <p:nvPr/>
        </p:nvGrpSpPr>
        <p:grpSpPr>
          <a:xfrm>
            <a:off x="868680" y="2240279"/>
            <a:ext cx="2512315" cy="914401"/>
            <a:chOff x="0" y="0"/>
            <a:chExt cx="2512314" cy="914400"/>
          </a:xfrm>
        </p:grpSpPr>
        <p:sp>
          <p:nvSpPr>
            <p:cNvPr id="550" name="Rounded Rectangle"/>
            <p:cNvSpPr/>
            <p:nvPr/>
          </p:nvSpPr>
          <p:spPr>
            <a:xfrm>
              <a:off x="0" y="0"/>
              <a:ext cx="2512315" cy="91440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51" name="Ireland dataset"/>
            <p:cNvSpPr txBox="1"/>
            <p:nvPr/>
          </p:nvSpPr>
          <p:spPr>
            <a:xfrm>
              <a:off x="95119" y="297179"/>
              <a:ext cx="2322076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Ireland dataset</a:t>
              </a:r>
            </a:p>
          </p:txBody>
        </p:sp>
      </p:grpSp>
      <p:sp>
        <p:nvSpPr>
          <p:cNvPr id="553" name="Chevron 8"/>
          <p:cNvSpPr/>
          <p:nvPr/>
        </p:nvSpPr>
        <p:spPr>
          <a:xfrm>
            <a:off x="3380994" y="250545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56" name="Rounded Rectangle 9"/>
          <p:cNvGrpSpPr/>
          <p:nvPr/>
        </p:nvGrpSpPr>
        <p:grpSpPr>
          <a:xfrm>
            <a:off x="3490721" y="2240279"/>
            <a:ext cx="2512315" cy="914401"/>
            <a:chOff x="0" y="0"/>
            <a:chExt cx="2512314" cy="914400"/>
          </a:xfrm>
        </p:grpSpPr>
        <p:sp>
          <p:nvSpPr>
            <p:cNvPr id="554" name="Rounded Rectangle"/>
            <p:cNvSpPr/>
            <p:nvPr/>
          </p:nvSpPr>
          <p:spPr>
            <a:xfrm>
              <a:off x="0" y="0"/>
              <a:ext cx="2512315" cy="914400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9525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55" name="Database"/>
            <p:cNvSpPr txBox="1"/>
            <p:nvPr/>
          </p:nvSpPr>
          <p:spPr>
            <a:xfrm>
              <a:off x="95119" y="297179"/>
              <a:ext cx="2322076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Database</a:t>
              </a:r>
            </a:p>
          </p:txBody>
        </p:sp>
      </p:grpSp>
      <p:sp>
        <p:nvSpPr>
          <p:cNvPr id="557" name="Chevron 10"/>
          <p:cNvSpPr/>
          <p:nvPr/>
        </p:nvSpPr>
        <p:spPr>
          <a:xfrm>
            <a:off x="6003035" y="250545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60" name="Rounded Rectangle 11"/>
          <p:cNvGrpSpPr/>
          <p:nvPr/>
        </p:nvGrpSpPr>
        <p:grpSpPr>
          <a:xfrm>
            <a:off x="6112764" y="2240279"/>
            <a:ext cx="2512315" cy="914401"/>
            <a:chOff x="0" y="0"/>
            <a:chExt cx="2512314" cy="914400"/>
          </a:xfrm>
        </p:grpSpPr>
        <p:sp>
          <p:nvSpPr>
            <p:cNvPr id="558" name="Rounded Rectangle"/>
            <p:cNvSpPr/>
            <p:nvPr/>
          </p:nvSpPr>
          <p:spPr>
            <a:xfrm>
              <a:off x="0" y="0"/>
              <a:ext cx="2512315" cy="91440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59" name="Static dashboard"/>
            <p:cNvSpPr txBox="1"/>
            <p:nvPr/>
          </p:nvSpPr>
          <p:spPr>
            <a:xfrm>
              <a:off x="95119" y="297179"/>
              <a:ext cx="2322076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Static dashboard</a:t>
              </a:r>
            </a:p>
          </p:txBody>
        </p:sp>
      </p:grpSp>
      <p:sp>
        <p:nvSpPr>
          <p:cNvPr id="561" name="Chevron 12"/>
          <p:cNvSpPr/>
          <p:nvPr/>
        </p:nvSpPr>
        <p:spPr>
          <a:xfrm>
            <a:off x="8625078" y="2505455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64" name="Rounded Rectangle 13"/>
          <p:cNvGrpSpPr/>
          <p:nvPr/>
        </p:nvGrpSpPr>
        <p:grpSpPr>
          <a:xfrm>
            <a:off x="8734804" y="2240279"/>
            <a:ext cx="2512315" cy="914401"/>
            <a:chOff x="0" y="0"/>
            <a:chExt cx="2512314" cy="914400"/>
          </a:xfrm>
        </p:grpSpPr>
        <p:sp>
          <p:nvSpPr>
            <p:cNvPr id="562" name="Rounded Rectangle"/>
            <p:cNvSpPr/>
            <p:nvPr/>
          </p:nvSpPr>
          <p:spPr>
            <a:xfrm>
              <a:off x="0" y="0"/>
              <a:ext cx="2512315" cy="914400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9525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3" name="Dynamic dashboard"/>
            <p:cNvSpPr txBox="1"/>
            <p:nvPr/>
          </p:nvSpPr>
          <p:spPr>
            <a:xfrm>
              <a:off x="95119" y="297179"/>
              <a:ext cx="2322076" cy="320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Dynamic dashboard</a:t>
              </a:r>
            </a:p>
          </p:txBody>
        </p:sp>
      </p:grpSp>
      <p:grpSp>
        <p:nvGrpSpPr>
          <p:cNvPr id="567" name="Rounded Rectangle 14"/>
          <p:cNvGrpSpPr/>
          <p:nvPr/>
        </p:nvGrpSpPr>
        <p:grpSpPr>
          <a:xfrm>
            <a:off x="868680" y="4023359"/>
            <a:ext cx="3200401" cy="1417321"/>
            <a:chOff x="0" y="0"/>
            <a:chExt cx="3200400" cy="1417319"/>
          </a:xfrm>
        </p:grpSpPr>
        <p:sp>
          <p:nvSpPr>
            <p:cNvPr id="565" name="Rounded Rectangle"/>
            <p:cNvSpPr/>
            <p:nvPr/>
          </p:nvSpPr>
          <p:spPr>
            <a:xfrm>
              <a:off x="0" y="0"/>
              <a:ext cx="3200400" cy="141732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6" name="Dataset input…"/>
            <p:cNvSpPr txBox="1"/>
            <p:nvPr/>
          </p:nvSpPr>
          <p:spPr>
            <a:xfrm>
              <a:off x="100938" y="416559"/>
              <a:ext cx="2998524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Dataset input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 an Ireland dataset as the starting point.</a:t>
              </a:r>
            </a:p>
          </p:txBody>
        </p:sp>
      </p:grpSp>
      <p:grpSp>
        <p:nvGrpSpPr>
          <p:cNvPr id="570" name="Rounded Rectangle 15"/>
          <p:cNvGrpSpPr/>
          <p:nvPr/>
        </p:nvGrpSpPr>
        <p:grpSpPr>
          <a:xfrm>
            <a:off x="4480559" y="4023359"/>
            <a:ext cx="3200401" cy="1417321"/>
            <a:chOff x="0" y="0"/>
            <a:chExt cx="3200400" cy="1417319"/>
          </a:xfrm>
        </p:grpSpPr>
        <p:sp>
          <p:nvSpPr>
            <p:cNvPr id="568" name="Rounded Rectangle"/>
            <p:cNvSpPr/>
            <p:nvPr/>
          </p:nvSpPr>
          <p:spPr>
            <a:xfrm>
              <a:off x="0" y="0"/>
              <a:ext cx="3200400" cy="141732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69" name="Build target…"/>
            <p:cNvSpPr txBox="1"/>
            <p:nvPr/>
          </p:nvSpPr>
          <p:spPr>
            <a:xfrm>
              <a:off x="100938" y="334009"/>
              <a:ext cx="2998524" cy="74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Build target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Load the data, structure it, and expose it through dashboards.</a:t>
              </a:r>
            </a:p>
          </p:txBody>
        </p:sp>
      </p:grpSp>
      <p:grpSp>
        <p:nvGrpSpPr>
          <p:cNvPr id="573" name="Rounded Rectangle 16"/>
          <p:cNvGrpSpPr/>
          <p:nvPr/>
        </p:nvGrpSpPr>
        <p:grpSpPr>
          <a:xfrm>
            <a:off x="8092440" y="4023359"/>
            <a:ext cx="3108961" cy="1417321"/>
            <a:chOff x="0" y="0"/>
            <a:chExt cx="3108960" cy="1417319"/>
          </a:xfrm>
        </p:grpSpPr>
        <p:sp>
          <p:nvSpPr>
            <p:cNvPr id="571" name="Rounded Rectangle"/>
            <p:cNvSpPr/>
            <p:nvPr/>
          </p:nvSpPr>
          <p:spPr>
            <a:xfrm>
              <a:off x="0" y="0"/>
              <a:ext cx="3108961" cy="141732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2" name="What this demonstrates…"/>
            <p:cNvSpPr txBox="1"/>
            <p:nvPr/>
          </p:nvSpPr>
          <p:spPr>
            <a:xfrm>
              <a:off x="100938" y="334009"/>
              <a:ext cx="2907084" cy="74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What this demonstrates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How agents help move from a requirement to a working software outcome.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76" name="TextBox 2"/>
          <p:cNvSpPr txBox="1"/>
          <p:nvPr/>
        </p:nvSpPr>
        <p:spPr>
          <a:xfrm>
            <a:off x="594359" y="310895"/>
            <a:ext cx="6884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DEMO 2</a:t>
            </a:r>
          </a:p>
        </p:txBody>
      </p:sp>
      <p:sp>
        <p:nvSpPr>
          <p:cNvPr id="577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Turning specification into a working software product</a:t>
            </a:r>
          </a:p>
        </p:txBody>
      </p:sp>
      <p:sp>
        <p:nvSpPr>
          <p:cNvPr id="578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The software workflow highlighted in this workshop</a:t>
            </a:r>
          </a:p>
        </p:txBody>
      </p:sp>
      <p:sp>
        <p:nvSpPr>
          <p:cNvPr id="579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580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20</a:t>
            </a:r>
          </a:p>
        </p:txBody>
      </p:sp>
      <p:grpSp>
        <p:nvGrpSpPr>
          <p:cNvPr id="583" name="Rounded Rectangle 7"/>
          <p:cNvGrpSpPr/>
          <p:nvPr/>
        </p:nvGrpSpPr>
        <p:grpSpPr>
          <a:xfrm>
            <a:off x="731519" y="2148839"/>
            <a:ext cx="2603756" cy="868681"/>
            <a:chOff x="0" y="0"/>
            <a:chExt cx="2603754" cy="868680"/>
          </a:xfrm>
        </p:grpSpPr>
        <p:sp>
          <p:nvSpPr>
            <p:cNvPr id="581" name="Rounded Rectangle"/>
            <p:cNvSpPr/>
            <p:nvPr/>
          </p:nvSpPr>
          <p:spPr>
            <a:xfrm>
              <a:off x="0" y="0"/>
              <a:ext cx="2603755" cy="868681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9525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82" name="Specification"/>
            <p:cNvSpPr txBox="1"/>
            <p:nvPr/>
          </p:nvSpPr>
          <p:spPr>
            <a:xfrm>
              <a:off x="92887" y="280670"/>
              <a:ext cx="241798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Specification</a:t>
              </a:r>
            </a:p>
          </p:txBody>
        </p:sp>
      </p:grpSp>
      <p:sp>
        <p:nvSpPr>
          <p:cNvPr id="584" name="Chevron 8"/>
          <p:cNvSpPr/>
          <p:nvPr/>
        </p:nvSpPr>
        <p:spPr>
          <a:xfrm>
            <a:off x="3335273" y="2414016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87" name="Rounded Rectangle 9"/>
          <p:cNvGrpSpPr/>
          <p:nvPr/>
        </p:nvGrpSpPr>
        <p:grpSpPr>
          <a:xfrm>
            <a:off x="3445002" y="2148839"/>
            <a:ext cx="2603755" cy="868681"/>
            <a:chOff x="0" y="0"/>
            <a:chExt cx="2603754" cy="868680"/>
          </a:xfrm>
        </p:grpSpPr>
        <p:sp>
          <p:nvSpPr>
            <p:cNvPr id="585" name="Rounded Rectangle"/>
            <p:cNvSpPr/>
            <p:nvPr/>
          </p:nvSpPr>
          <p:spPr>
            <a:xfrm>
              <a:off x="0" y="0"/>
              <a:ext cx="2603755" cy="868681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9525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86" name="Engineering Manager Agent"/>
            <p:cNvSpPr txBox="1"/>
            <p:nvPr/>
          </p:nvSpPr>
          <p:spPr>
            <a:xfrm>
              <a:off x="92887" y="172720"/>
              <a:ext cx="2417980" cy="523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4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Engineering Manager Agent</a:t>
              </a:r>
            </a:p>
          </p:txBody>
        </p:sp>
      </p:grpSp>
      <p:sp>
        <p:nvSpPr>
          <p:cNvPr id="588" name="Chevron 10"/>
          <p:cNvSpPr/>
          <p:nvPr/>
        </p:nvSpPr>
        <p:spPr>
          <a:xfrm>
            <a:off x="6048755" y="2414016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91" name="Rounded Rectangle 11"/>
          <p:cNvGrpSpPr/>
          <p:nvPr/>
        </p:nvGrpSpPr>
        <p:grpSpPr>
          <a:xfrm>
            <a:off x="6158484" y="2148839"/>
            <a:ext cx="2603755" cy="868681"/>
            <a:chOff x="0" y="0"/>
            <a:chExt cx="2603754" cy="868680"/>
          </a:xfrm>
        </p:grpSpPr>
        <p:sp>
          <p:nvSpPr>
            <p:cNvPr id="589" name="Rounded Rectangle"/>
            <p:cNvSpPr/>
            <p:nvPr/>
          </p:nvSpPr>
          <p:spPr>
            <a:xfrm>
              <a:off x="0" y="0"/>
              <a:ext cx="2603755" cy="868681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9525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0" name="Software Engineer Agent"/>
            <p:cNvSpPr txBox="1"/>
            <p:nvPr/>
          </p:nvSpPr>
          <p:spPr>
            <a:xfrm>
              <a:off x="92887" y="280670"/>
              <a:ext cx="241798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4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Software Engineer Agent</a:t>
              </a:r>
            </a:p>
          </p:txBody>
        </p:sp>
      </p:grpSp>
      <p:sp>
        <p:nvSpPr>
          <p:cNvPr id="592" name="Chevron 12"/>
          <p:cNvSpPr/>
          <p:nvPr/>
        </p:nvSpPr>
        <p:spPr>
          <a:xfrm>
            <a:off x="8762238" y="2414016"/>
            <a:ext cx="164593" cy="246889"/>
          </a:xfrm>
          <a:prstGeom prst="chevron">
            <a:avLst>
              <a:gd name="adj" fmla="val 50000"/>
            </a:avLst>
          </a:prstGeom>
          <a:solidFill>
            <a:srgbClr val="6B7280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595" name="Rounded Rectangle 13"/>
          <p:cNvGrpSpPr/>
          <p:nvPr/>
        </p:nvGrpSpPr>
        <p:grpSpPr>
          <a:xfrm>
            <a:off x="8871964" y="2148839"/>
            <a:ext cx="2603755" cy="868681"/>
            <a:chOff x="0" y="0"/>
            <a:chExt cx="2603754" cy="868680"/>
          </a:xfrm>
        </p:grpSpPr>
        <p:sp>
          <p:nvSpPr>
            <p:cNvPr id="593" name="Rounded Rectangle"/>
            <p:cNvSpPr/>
            <p:nvPr/>
          </p:nvSpPr>
          <p:spPr>
            <a:xfrm>
              <a:off x="0" y="0"/>
              <a:ext cx="2603755" cy="868681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9525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4" name="Working product"/>
            <p:cNvSpPr txBox="1"/>
            <p:nvPr/>
          </p:nvSpPr>
          <p:spPr>
            <a:xfrm>
              <a:off x="92887" y="280670"/>
              <a:ext cx="2417980" cy="307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4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Working product</a:t>
              </a:r>
            </a:p>
          </p:txBody>
        </p:sp>
      </p:grpSp>
      <p:grpSp>
        <p:nvGrpSpPr>
          <p:cNvPr id="598" name="Rounded Rectangle 14"/>
          <p:cNvGrpSpPr/>
          <p:nvPr/>
        </p:nvGrpSpPr>
        <p:grpSpPr>
          <a:xfrm>
            <a:off x="868680" y="3886200"/>
            <a:ext cx="2971801" cy="1554481"/>
            <a:chOff x="0" y="0"/>
            <a:chExt cx="2971800" cy="1554480"/>
          </a:xfrm>
        </p:grpSpPr>
        <p:sp>
          <p:nvSpPr>
            <p:cNvPr id="596" name="Rounded Rectangle"/>
            <p:cNvSpPr/>
            <p:nvPr/>
          </p:nvSpPr>
          <p:spPr>
            <a:xfrm>
              <a:off x="0" y="0"/>
              <a:ext cx="2971800" cy="15544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7" name="Engineering Manager Agent…"/>
            <p:cNvSpPr txBox="1"/>
            <p:nvPr/>
          </p:nvSpPr>
          <p:spPr>
            <a:xfrm>
              <a:off x="107632" y="320039"/>
              <a:ext cx="2756536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Engineering Manager Agent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Clarifies the request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Frames the work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Breaks down tasks</a:t>
              </a:r>
            </a:p>
          </p:txBody>
        </p:sp>
      </p:grpSp>
      <p:grpSp>
        <p:nvGrpSpPr>
          <p:cNvPr id="601" name="Rounded Rectangle 15"/>
          <p:cNvGrpSpPr/>
          <p:nvPr/>
        </p:nvGrpSpPr>
        <p:grpSpPr>
          <a:xfrm>
            <a:off x="4526279" y="3886200"/>
            <a:ext cx="2971801" cy="1554481"/>
            <a:chOff x="0" y="0"/>
            <a:chExt cx="2971800" cy="1554480"/>
          </a:xfrm>
        </p:grpSpPr>
        <p:sp>
          <p:nvSpPr>
            <p:cNvPr id="599" name="Rounded Rectangle"/>
            <p:cNvSpPr/>
            <p:nvPr/>
          </p:nvSpPr>
          <p:spPr>
            <a:xfrm>
              <a:off x="0" y="0"/>
              <a:ext cx="2971800" cy="15544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00" name="Software Engineer Agent…"/>
            <p:cNvSpPr txBox="1"/>
            <p:nvPr/>
          </p:nvSpPr>
          <p:spPr>
            <a:xfrm>
              <a:off x="107632" y="320039"/>
              <a:ext cx="2756536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Software Engineer Agent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Implements the solution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Builds DB + dashboards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Produces working outputs</a:t>
              </a:r>
            </a:p>
          </p:txBody>
        </p:sp>
      </p:grpSp>
      <p:grpSp>
        <p:nvGrpSpPr>
          <p:cNvPr id="604" name="Rounded Rectangle 16"/>
          <p:cNvGrpSpPr/>
          <p:nvPr/>
        </p:nvGrpSpPr>
        <p:grpSpPr>
          <a:xfrm>
            <a:off x="8183878" y="3886200"/>
            <a:ext cx="2971801" cy="1554481"/>
            <a:chOff x="0" y="0"/>
            <a:chExt cx="2971800" cy="1554480"/>
          </a:xfrm>
        </p:grpSpPr>
        <p:sp>
          <p:nvSpPr>
            <p:cNvPr id="602" name="Rounded Rectangle"/>
            <p:cNvSpPr/>
            <p:nvPr/>
          </p:nvSpPr>
          <p:spPr>
            <a:xfrm>
              <a:off x="0" y="0"/>
              <a:ext cx="2971800" cy="1554481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2700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03" name="Expected outcome…"/>
            <p:cNvSpPr txBox="1"/>
            <p:nvPr/>
          </p:nvSpPr>
          <p:spPr>
            <a:xfrm>
              <a:off x="107632" y="402589"/>
              <a:ext cx="2756536" cy="749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Expected outcome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 more structured path from idea to product delivery.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07" name="TextBox 2"/>
          <p:cNvSpPr txBox="1"/>
          <p:nvPr/>
        </p:nvSpPr>
        <p:spPr>
          <a:xfrm>
            <a:off x="594359" y="310895"/>
            <a:ext cx="52748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COST</a:t>
            </a:r>
          </a:p>
        </p:txBody>
      </p:sp>
      <p:sp>
        <p:nvSpPr>
          <p:cNvPr id="608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Why credits can grow fast</a:t>
            </a:r>
          </a:p>
        </p:txBody>
      </p:sp>
      <p:sp>
        <p:nvSpPr>
          <p:cNvPr id="609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Longer conversations can resend more context on every turn</a:t>
            </a:r>
          </a:p>
        </p:txBody>
      </p:sp>
      <p:sp>
        <p:nvSpPr>
          <p:cNvPr id="610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611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14</a:t>
            </a:r>
          </a:p>
        </p:txBody>
      </p:sp>
      <p:pic>
        <p:nvPicPr>
          <p:cNvPr id="612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8680" y="1508760"/>
            <a:ext cx="6583681" cy="368142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15" name="Rounded Rectangle 8"/>
          <p:cNvGrpSpPr/>
          <p:nvPr/>
        </p:nvGrpSpPr>
        <p:grpSpPr>
          <a:xfrm>
            <a:off x="7818119" y="1737360"/>
            <a:ext cx="3291841" cy="2971801"/>
            <a:chOff x="0" y="0"/>
            <a:chExt cx="3291840" cy="2971800"/>
          </a:xfrm>
        </p:grpSpPr>
        <p:sp>
          <p:nvSpPr>
            <p:cNvPr id="613" name="Rounded Rectangle"/>
            <p:cNvSpPr/>
            <p:nvPr/>
          </p:nvSpPr>
          <p:spPr>
            <a:xfrm>
              <a:off x="0" y="0"/>
              <a:ext cx="3291841" cy="2971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4" name="What causes the jump?…"/>
            <p:cNvSpPr txBox="1"/>
            <p:nvPr/>
          </p:nvSpPr>
          <p:spPr>
            <a:xfrm>
              <a:off x="256513" y="871219"/>
              <a:ext cx="2804214" cy="1285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3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What causes the jump?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Each turn may resend instructions, history, and tool results.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Retries and loops increase the total credits processed.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• Large context can grow cost faster than expected.</a:t>
              </a:r>
            </a:p>
          </p:txBody>
        </p:sp>
      </p:grpSp>
      <p:grpSp>
        <p:nvGrpSpPr>
          <p:cNvPr id="618" name="Rounded Rectangle 9"/>
          <p:cNvGrpSpPr/>
          <p:nvPr/>
        </p:nvGrpSpPr>
        <p:grpSpPr>
          <a:xfrm>
            <a:off x="7818119" y="4951729"/>
            <a:ext cx="3291841" cy="749301"/>
            <a:chOff x="0" y="0"/>
            <a:chExt cx="3291840" cy="749300"/>
          </a:xfrm>
        </p:grpSpPr>
        <p:sp>
          <p:nvSpPr>
            <p:cNvPr id="616" name="Rounded Rectangle"/>
            <p:cNvSpPr/>
            <p:nvPr/>
          </p:nvSpPr>
          <p:spPr>
            <a:xfrm>
              <a:off x="0" y="31750"/>
              <a:ext cx="3291841" cy="685801"/>
            </a:xfrm>
            <a:prstGeom prst="roundRect">
              <a:avLst>
                <a:gd name="adj" fmla="val 16667"/>
              </a:avLst>
            </a:prstGeom>
            <a:solidFill>
              <a:srgbClr val="FFF7ED"/>
            </a:solidFill>
            <a:ln w="12700" cap="flat">
              <a:solidFill>
                <a:srgbClr val="EA580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17" name="Takeaway…"/>
            <p:cNvSpPr txBox="1"/>
            <p:nvPr/>
          </p:nvSpPr>
          <p:spPr>
            <a:xfrm>
              <a:off x="65228" y="0"/>
              <a:ext cx="3161384" cy="7493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EA580C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Takeaway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Keep conversations and context clean when possible.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1" name="TextBox 2"/>
          <p:cNvSpPr txBox="1"/>
          <p:nvPr/>
        </p:nvSpPr>
        <p:spPr>
          <a:xfrm>
            <a:off x="594359" y="310895"/>
            <a:ext cx="52748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COST</a:t>
            </a:r>
          </a:p>
        </p:txBody>
      </p:sp>
      <p:sp>
        <p:nvSpPr>
          <p:cNvPr id="622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Cost control patterns</a:t>
            </a:r>
          </a:p>
        </p:txBody>
      </p:sp>
      <p:sp>
        <p:nvSpPr>
          <p:cNvPr id="623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Simple ways to keep agentic workflows efficient</a:t>
            </a:r>
          </a:p>
        </p:txBody>
      </p:sp>
      <p:sp>
        <p:nvSpPr>
          <p:cNvPr id="624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625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15</a:t>
            </a:r>
          </a:p>
        </p:txBody>
      </p:sp>
      <p:grpSp>
        <p:nvGrpSpPr>
          <p:cNvPr id="628" name="Rounded Rectangle 7"/>
          <p:cNvGrpSpPr/>
          <p:nvPr/>
        </p:nvGrpSpPr>
        <p:grpSpPr>
          <a:xfrm>
            <a:off x="822960" y="1737360"/>
            <a:ext cx="2743201" cy="1417321"/>
            <a:chOff x="0" y="0"/>
            <a:chExt cx="2743200" cy="1417319"/>
          </a:xfrm>
        </p:grpSpPr>
        <p:sp>
          <p:nvSpPr>
            <p:cNvPr id="626" name="Rounded Rectangle"/>
            <p:cNvSpPr/>
            <p:nvPr/>
          </p:nvSpPr>
          <p:spPr>
            <a:xfrm>
              <a:off x="0" y="0"/>
              <a:ext cx="2743200" cy="141732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12700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27" name="Right model"/>
            <p:cNvSpPr txBox="1"/>
            <p:nvPr/>
          </p:nvSpPr>
          <p:spPr>
            <a:xfrm>
              <a:off x="100938" y="492760"/>
              <a:ext cx="2541324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5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Right model</a:t>
              </a:r>
            </a:p>
          </p:txBody>
        </p:sp>
      </p:grpSp>
      <p:grpSp>
        <p:nvGrpSpPr>
          <p:cNvPr id="631" name="Rounded Rectangle 8"/>
          <p:cNvGrpSpPr/>
          <p:nvPr/>
        </p:nvGrpSpPr>
        <p:grpSpPr>
          <a:xfrm>
            <a:off x="4069079" y="1737360"/>
            <a:ext cx="2743201" cy="1417321"/>
            <a:chOff x="0" y="0"/>
            <a:chExt cx="2743200" cy="1417319"/>
          </a:xfrm>
        </p:grpSpPr>
        <p:sp>
          <p:nvSpPr>
            <p:cNvPr id="629" name="Rounded Rectangle"/>
            <p:cNvSpPr/>
            <p:nvPr/>
          </p:nvSpPr>
          <p:spPr>
            <a:xfrm>
              <a:off x="0" y="0"/>
              <a:ext cx="2743200" cy="141732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2700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30" name="Smaller context"/>
            <p:cNvSpPr txBox="1"/>
            <p:nvPr/>
          </p:nvSpPr>
          <p:spPr>
            <a:xfrm>
              <a:off x="100938" y="492760"/>
              <a:ext cx="2541324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5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Smaller context</a:t>
              </a:r>
            </a:p>
          </p:txBody>
        </p:sp>
      </p:grpSp>
      <p:grpSp>
        <p:nvGrpSpPr>
          <p:cNvPr id="634" name="Rounded Rectangle 9"/>
          <p:cNvGrpSpPr/>
          <p:nvPr/>
        </p:nvGrpSpPr>
        <p:grpSpPr>
          <a:xfrm>
            <a:off x="7315200" y="1737360"/>
            <a:ext cx="2743200" cy="1417321"/>
            <a:chOff x="0" y="0"/>
            <a:chExt cx="2743200" cy="1417319"/>
          </a:xfrm>
        </p:grpSpPr>
        <p:sp>
          <p:nvSpPr>
            <p:cNvPr id="632" name="Rounded Rectangle"/>
            <p:cNvSpPr/>
            <p:nvPr/>
          </p:nvSpPr>
          <p:spPr>
            <a:xfrm>
              <a:off x="0" y="0"/>
              <a:ext cx="2743200" cy="1417320"/>
            </a:xfrm>
            <a:prstGeom prst="roundRect">
              <a:avLst>
                <a:gd name="adj" fmla="val 16667"/>
              </a:avLst>
            </a:prstGeom>
            <a:solidFill>
              <a:srgbClr val="F0FDFA"/>
            </a:solidFill>
            <a:ln w="12700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33" name="Fewer retries"/>
            <p:cNvSpPr txBox="1"/>
            <p:nvPr/>
          </p:nvSpPr>
          <p:spPr>
            <a:xfrm>
              <a:off x="100938" y="492760"/>
              <a:ext cx="2541324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5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Fewer retries</a:t>
              </a:r>
            </a:p>
          </p:txBody>
        </p:sp>
      </p:grpSp>
      <p:grpSp>
        <p:nvGrpSpPr>
          <p:cNvPr id="637" name="Rounded Rectangle 10"/>
          <p:cNvGrpSpPr/>
          <p:nvPr/>
        </p:nvGrpSpPr>
        <p:grpSpPr>
          <a:xfrm>
            <a:off x="822960" y="3794759"/>
            <a:ext cx="2743201" cy="1417321"/>
            <a:chOff x="0" y="0"/>
            <a:chExt cx="2743200" cy="1417319"/>
          </a:xfrm>
        </p:grpSpPr>
        <p:sp>
          <p:nvSpPr>
            <p:cNvPr id="635" name="Rounded Rectangle"/>
            <p:cNvSpPr/>
            <p:nvPr/>
          </p:nvSpPr>
          <p:spPr>
            <a:xfrm>
              <a:off x="0" y="0"/>
              <a:ext cx="2743200" cy="1417320"/>
            </a:xfrm>
            <a:prstGeom prst="roundRect">
              <a:avLst>
                <a:gd name="adj" fmla="val 16667"/>
              </a:avLst>
            </a:prstGeom>
            <a:solidFill>
              <a:srgbClr val="F5F3FF"/>
            </a:solidFill>
            <a:ln w="12700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36" name="Clear instructions"/>
            <p:cNvSpPr txBox="1"/>
            <p:nvPr/>
          </p:nvSpPr>
          <p:spPr>
            <a:xfrm>
              <a:off x="100938" y="492760"/>
              <a:ext cx="2541324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5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Clear instructions</a:t>
              </a:r>
            </a:p>
          </p:txBody>
        </p:sp>
      </p:grpSp>
      <p:grpSp>
        <p:nvGrpSpPr>
          <p:cNvPr id="640" name="Rounded Rectangle 11"/>
          <p:cNvGrpSpPr/>
          <p:nvPr/>
        </p:nvGrpSpPr>
        <p:grpSpPr>
          <a:xfrm>
            <a:off x="4069079" y="3794759"/>
            <a:ext cx="2743201" cy="1417321"/>
            <a:chOff x="0" y="0"/>
            <a:chExt cx="2743200" cy="1417319"/>
          </a:xfrm>
        </p:grpSpPr>
        <p:sp>
          <p:nvSpPr>
            <p:cNvPr id="638" name="Rounded Rectangle"/>
            <p:cNvSpPr/>
            <p:nvPr/>
          </p:nvSpPr>
          <p:spPr>
            <a:xfrm>
              <a:off x="0" y="0"/>
              <a:ext cx="2743200" cy="1417320"/>
            </a:xfrm>
            <a:prstGeom prst="roundRect">
              <a:avLst>
                <a:gd name="adj" fmla="val 16667"/>
              </a:avLst>
            </a:prstGeom>
            <a:solidFill>
              <a:srgbClr val="FFF7ED"/>
            </a:solidFill>
            <a:ln w="12700" cap="flat">
              <a:solidFill>
                <a:srgbClr val="EA580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39" name="Stop bad loops early"/>
            <p:cNvSpPr txBox="1"/>
            <p:nvPr/>
          </p:nvSpPr>
          <p:spPr>
            <a:xfrm>
              <a:off x="100938" y="492760"/>
              <a:ext cx="2541324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500">
                  <a:solidFill>
                    <a:srgbClr val="EA580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Stop bad loops early</a:t>
              </a:r>
            </a:p>
          </p:txBody>
        </p:sp>
      </p:grpSp>
      <p:grpSp>
        <p:nvGrpSpPr>
          <p:cNvPr id="643" name="Rounded Rectangle 12"/>
          <p:cNvGrpSpPr/>
          <p:nvPr/>
        </p:nvGrpSpPr>
        <p:grpSpPr>
          <a:xfrm>
            <a:off x="7315200" y="3794759"/>
            <a:ext cx="2743200" cy="1417321"/>
            <a:chOff x="0" y="0"/>
            <a:chExt cx="2743200" cy="1417319"/>
          </a:xfrm>
        </p:grpSpPr>
        <p:sp>
          <p:nvSpPr>
            <p:cNvPr id="641" name="Rounded Rectangle"/>
            <p:cNvSpPr/>
            <p:nvPr/>
          </p:nvSpPr>
          <p:spPr>
            <a:xfrm>
              <a:off x="0" y="0"/>
              <a:ext cx="2743200" cy="1417320"/>
            </a:xfrm>
            <a:prstGeom prst="roundRect">
              <a:avLst>
                <a:gd name="adj" fmla="val 16667"/>
              </a:avLst>
            </a:prstGeom>
            <a:solidFill>
              <a:srgbClr val="F3F4F6"/>
            </a:solidFill>
            <a:ln w="12700" cap="flat">
              <a:solidFill>
                <a:srgbClr val="1F2937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42" name="Use cheaper sub-agents"/>
            <p:cNvSpPr txBox="1"/>
            <p:nvPr/>
          </p:nvSpPr>
          <p:spPr>
            <a:xfrm>
              <a:off x="100938" y="492760"/>
              <a:ext cx="2541324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500">
                  <a:solidFill>
                    <a:srgbClr val="1F2937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Use cheaper sub-agents</a:t>
              </a:r>
            </a:p>
          </p:txBody>
        </p:sp>
      </p:grpSp>
      <p:grpSp>
        <p:nvGrpSpPr>
          <p:cNvPr id="646" name="Rounded Rectangle 13"/>
          <p:cNvGrpSpPr/>
          <p:nvPr/>
        </p:nvGrpSpPr>
        <p:grpSpPr>
          <a:xfrm>
            <a:off x="822960" y="5697219"/>
            <a:ext cx="10149841" cy="584201"/>
            <a:chOff x="0" y="0"/>
            <a:chExt cx="10149840" cy="584200"/>
          </a:xfrm>
        </p:grpSpPr>
        <p:sp>
          <p:nvSpPr>
            <p:cNvPr id="644" name="Rounded Rectangle"/>
            <p:cNvSpPr/>
            <p:nvPr/>
          </p:nvSpPr>
          <p:spPr>
            <a:xfrm>
              <a:off x="0" y="17780"/>
              <a:ext cx="10149841" cy="54864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45" name="Golden rule…"/>
            <p:cNvSpPr txBox="1"/>
            <p:nvPr/>
          </p:nvSpPr>
          <p:spPr>
            <a:xfrm>
              <a:off x="58532" y="0"/>
              <a:ext cx="10032776" cy="5842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Golden rule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 the smallest sufficient model with the smallest sufficient context.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9" name="TextBox 2"/>
          <p:cNvSpPr txBox="1"/>
          <p:nvPr/>
        </p:nvSpPr>
        <p:spPr>
          <a:xfrm>
            <a:off x="594359" y="310895"/>
            <a:ext cx="114571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650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Open-source tools &amp; repositories</a:t>
            </a:r>
          </a:p>
        </p:txBody>
      </p:sp>
      <p:sp>
        <p:nvSpPr>
          <p:cNvPr id="651" name="TextBox 4"/>
          <p:cNvSpPr txBox="1"/>
          <p:nvPr/>
        </p:nvSpPr>
        <p:spPr>
          <a:xfrm>
            <a:off x="594359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Useful examples to explore after the workshop</a:t>
            </a:r>
          </a:p>
        </p:txBody>
      </p:sp>
      <p:sp>
        <p:nvSpPr>
          <p:cNvPr id="652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653" name="TextBox 6"/>
          <p:cNvSpPr txBox="1"/>
          <p:nvPr/>
        </p:nvSpPr>
        <p:spPr>
          <a:xfrm>
            <a:off x="11202065" y="310895"/>
            <a:ext cx="273656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21</a:t>
            </a:r>
          </a:p>
        </p:txBody>
      </p:sp>
      <p:grpSp>
        <p:nvGrpSpPr>
          <p:cNvPr id="656" name="Rounded Rectangle 7"/>
          <p:cNvGrpSpPr/>
          <p:nvPr/>
        </p:nvGrpSpPr>
        <p:grpSpPr>
          <a:xfrm>
            <a:off x="777240" y="1645920"/>
            <a:ext cx="2423161" cy="1554481"/>
            <a:chOff x="0" y="0"/>
            <a:chExt cx="2423160" cy="1554480"/>
          </a:xfrm>
        </p:grpSpPr>
        <p:sp>
          <p:nvSpPr>
            <p:cNvPr id="654" name="Rounded Rectangle"/>
            <p:cNvSpPr/>
            <p:nvPr/>
          </p:nvSpPr>
          <p:spPr>
            <a:xfrm>
              <a:off x="0" y="0"/>
              <a:ext cx="2423161" cy="15544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55" name="Spec Kit…"/>
            <p:cNvSpPr txBox="1"/>
            <p:nvPr/>
          </p:nvSpPr>
          <p:spPr>
            <a:xfrm>
              <a:off x="107632" y="224789"/>
              <a:ext cx="2207896" cy="1255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no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Spec Kit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An example of structured agentic workflow setup.</a:t>
              </a: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rPr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hlinkClick r:id="rId2" invalidUrl="" action="" tgtFrame="" tooltip="" history="1" highlightClick="0" endSnd="0"/>
                </a:rPr>
                <a:t>https://github.com/github/spec-kit</a:t>
              </a: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</p:txBody>
        </p:sp>
      </p:grpSp>
      <p:grpSp>
        <p:nvGrpSpPr>
          <p:cNvPr id="659" name="Rounded Rectangle 8"/>
          <p:cNvGrpSpPr/>
          <p:nvPr/>
        </p:nvGrpSpPr>
        <p:grpSpPr>
          <a:xfrm>
            <a:off x="3383279" y="1645920"/>
            <a:ext cx="2423161" cy="1554481"/>
            <a:chOff x="0" y="0"/>
            <a:chExt cx="2423160" cy="1554480"/>
          </a:xfrm>
        </p:grpSpPr>
        <p:sp>
          <p:nvSpPr>
            <p:cNvPr id="657" name="Rounded Rectangle"/>
            <p:cNvSpPr/>
            <p:nvPr/>
          </p:nvSpPr>
          <p:spPr>
            <a:xfrm>
              <a:off x="0" y="0"/>
              <a:ext cx="2423161" cy="15544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58" name="GSD…"/>
            <p:cNvSpPr txBox="1"/>
            <p:nvPr/>
          </p:nvSpPr>
          <p:spPr>
            <a:xfrm>
              <a:off x="107632" y="193039"/>
              <a:ext cx="2207896" cy="1244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GSD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 reference point for agent-based workflow setup.</a:t>
              </a: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rPr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hlinkClick r:id="rId3" invalidUrl="" action="" tgtFrame="" tooltip="" history="1" highlightClick="0" endSnd="0"/>
                </a:rPr>
                <a:t>https://github.com/gsd-build/get-shit-done</a:t>
              </a:r>
            </a:p>
          </p:txBody>
        </p:sp>
      </p:grpSp>
      <p:grpSp>
        <p:nvGrpSpPr>
          <p:cNvPr id="662" name="Rounded Rectangle 9"/>
          <p:cNvGrpSpPr/>
          <p:nvPr/>
        </p:nvGrpSpPr>
        <p:grpSpPr>
          <a:xfrm>
            <a:off x="5989320" y="1645920"/>
            <a:ext cx="2697480" cy="1554481"/>
            <a:chOff x="0" y="0"/>
            <a:chExt cx="2697479" cy="1554480"/>
          </a:xfrm>
        </p:grpSpPr>
        <p:sp>
          <p:nvSpPr>
            <p:cNvPr id="660" name="Rounded Rectangle"/>
            <p:cNvSpPr/>
            <p:nvPr/>
          </p:nvSpPr>
          <p:spPr>
            <a:xfrm>
              <a:off x="0" y="0"/>
              <a:ext cx="2697480" cy="15544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61" name="Awesome Copilot…"/>
            <p:cNvSpPr txBox="1"/>
            <p:nvPr/>
          </p:nvSpPr>
          <p:spPr>
            <a:xfrm>
              <a:off x="107632" y="173990"/>
              <a:ext cx="2482216" cy="12385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no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Awesome Copilot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 collection of agent, prompt, and workflow ideas.</a:t>
              </a: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rPr u="sng">
                  <a:solidFill>
                    <a:srgbClr val="0000FF"/>
                  </a:solidFill>
                  <a:uFill>
                    <a:solidFill>
                      <a:srgbClr val="0000FF"/>
                    </a:solidFill>
                  </a:uFill>
                  <a:hlinkClick r:id="rId4" invalidUrl="" action="" tgtFrame="" tooltip="" history="1" highlightClick="0" endSnd="0"/>
                </a:rPr>
                <a:t>https://github.com/github/awesome-copilot</a:t>
              </a:r>
            </a:p>
          </p:txBody>
        </p:sp>
      </p:grpSp>
      <p:grpSp>
        <p:nvGrpSpPr>
          <p:cNvPr id="665" name="Rounded Rectangle 10"/>
          <p:cNvGrpSpPr/>
          <p:nvPr/>
        </p:nvGrpSpPr>
        <p:grpSpPr>
          <a:xfrm>
            <a:off x="8869680" y="1645920"/>
            <a:ext cx="1920241" cy="1554481"/>
            <a:chOff x="0" y="0"/>
            <a:chExt cx="1920239" cy="1554480"/>
          </a:xfrm>
        </p:grpSpPr>
        <p:sp>
          <p:nvSpPr>
            <p:cNvPr id="663" name="Rounded Rectangle"/>
            <p:cNvSpPr/>
            <p:nvPr/>
          </p:nvSpPr>
          <p:spPr>
            <a:xfrm>
              <a:off x="0" y="0"/>
              <a:ext cx="1920240" cy="1554481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64" name="Skills…"/>
            <p:cNvSpPr txBox="1"/>
            <p:nvPr/>
          </p:nvSpPr>
          <p:spPr>
            <a:xfrm>
              <a:off x="107632" y="237489"/>
              <a:ext cx="1704976" cy="1079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Skills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Examples of various skills patterns.</a:t>
              </a: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</a:p>
            <a:p>
              <a:pPr>
                <a:defRPr sz="1100" u="sng">
                  <a:solidFill>
                    <a:srgbClr val="0000F5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https://www.skills.sh</a:t>
              </a:r>
            </a:p>
          </p:txBody>
        </p:sp>
      </p:grpSp>
      <p:grpSp>
        <p:nvGrpSpPr>
          <p:cNvPr id="668" name="Rounded Rectangle 11"/>
          <p:cNvGrpSpPr/>
          <p:nvPr/>
        </p:nvGrpSpPr>
        <p:grpSpPr>
          <a:xfrm>
            <a:off x="777240" y="3977638"/>
            <a:ext cx="10058401" cy="1234441"/>
            <a:chOff x="0" y="0"/>
            <a:chExt cx="10058400" cy="1234439"/>
          </a:xfrm>
        </p:grpSpPr>
        <p:sp>
          <p:nvSpPr>
            <p:cNvPr id="666" name="Rounded Rectangle"/>
            <p:cNvSpPr/>
            <p:nvPr/>
          </p:nvSpPr>
          <p:spPr>
            <a:xfrm>
              <a:off x="0" y="0"/>
              <a:ext cx="10058400" cy="1234440"/>
            </a:xfrm>
            <a:prstGeom prst="roundRect">
              <a:avLst>
                <a:gd name="adj" fmla="val 16667"/>
              </a:avLst>
            </a:prstGeom>
            <a:solidFill>
              <a:srgbClr val="EFF6FF"/>
            </a:solidFill>
            <a:ln w="12700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67" name="Use these as references, not prerequisites…"/>
            <p:cNvSpPr txBox="1"/>
            <p:nvPr/>
          </p:nvSpPr>
          <p:spPr>
            <a:xfrm>
              <a:off x="92009" y="325119"/>
              <a:ext cx="9874382" cy="58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Use these as references, not prerequisites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We will point participants to these resources so they know what is available without trying to cover everything in one workshop.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1" name="TextBox 2"/>
          <p:cNvSpPr txBox="1"/>
          <p:nvPr/>
        </p:nvSpPr>
        <p:spPr>
          <a:xfrm>
            <a:off x="594359" y="310895"/>
            <a:ext cx="1044363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TAKEAWAYS</a:t>
            </a:r>
          </a:p>
        </p:txBody>
      </p:sp>
      <p:sp>
        <p:nvSpPr>
          <p:cNvPr id="672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Key takeaways</a:t>
            </a:r>
          </a:p>
        </p:txBody>
      </p:sp>
      <p:sp>
        <p:nvSpPr>
          <p:cNvPr id="673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What participants should leave with</a:t>
            </a:r>
          </a:p>
        </p:txBody>
      </p:sp>
      <p:sp>
        <p:nvSpPr>
          <p:cNvPr id="674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675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22</a:t>
            </a:r>
          </a:p>
        </p:txBody>
      </p:sp>
      <p:grpSp>
        <p:nvGrpSpPr>
          <p:cNvPr id="678" name="Rounded Rectangle 7"/>
          <p:cNvGrpSpPr/>
          <p:nvPr/>
        </p:nvGrpSpPr>
        <p:grpSpPr>
          <a:xfrm>
            <a:off x="822960" y="1554480"/>
            <a:ext cx="10515601" cy="658369"/>
            <a:chOff x="0" y="0"/>
            <a:chExt cx="10515600" cy="658368"/>
          </a:xfrm>
        </p:grpSpPr>
        <p:sp>
          <p:nvSpPr>
            <p:cNvPr id="676" name="Rounded Rectangle"/>
            <p:cNvSpPr/>
            <p:nvPr/>
          </p:nvSpPr>
          <p:spPr>
            <a:xfrm>
              <a:off x="0" y="0"/>
              <a:ext cx="10515600" cy="65836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2563EB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77" name="Workflow first — Design the process, not just the prompt."/>
            <p:cNvSpPr txBox="1"/>
            <p:nvPr/>
          </p:nvSpPr>
          <p:spPr>
            <a:xfrm>
              <a:off x="63888" y="125984"/>
              <a:ext cx="10387824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2563EB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Workflow first — Design the process, not just the prompt.</a:t>
              </a:r>
            </a:p>
          </p:txBody>
        </p:sp>
      </p:grpSp>
      <p:grpSp>
        <p:nvGrpSpPr>
          <p:cNvPr id="681" name="Rounded Rectangle 8"/>
          <p:cNvGrpSpPr/>
          <p:nvPr/>
        </p:nvGrpSpPr>
        <p:grpSpPr>
          <a:xfrm>
            <a:off x="822960" y="2423160"/>
            <a:ext cx="10515601" cy="658369"/>
            <a:chOff x="0" y="0"/>
            <a:chExt cx="10515600" cy="658368"/>
          </a:xfrm>
        </p:grpSpPr>
        <p:sp>
          <p:nvSpPr>
            <p:cNvPr id="679" name="Rounded Rectangle"/>
            <p:cNvSpPr/>
            <p:nvPr/>
          </p:nvSpPr>
          <p:spPr>
            <a:xfrm>
              <a:off x="0" y="0"/>
              <a:ext cx="10515600" cy="65836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0D948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80" name="Specialists help — Multiple agents can divide and clarify work."/>
            <p:cNvSpPr txBox="1"/>
            <p:nvPr/>
          </p:nvSpPr>
          <p:spPr>
            <a:xfrm>
              <a:off x="63888" y="125984"/>
              <a:ext cx="10387824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0D9488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Specialists help — Multiple agents can divide and clarify work.</a:t>
              </a:r>
            </a:p>
          </p:txBody>
        </p:sp>
      </p:grpSp>
      <p:grpSp>
        <p:nvGrpSpPr>
          <p:cNvPr id="684" name="Rounded Rectangle 9"/>
          <p:cNvGrpSpPr/>
          <p:nvPr/>
        </p:nvGrpSpPr>
        <p:grpSpPr>
          <a:xfrm>
            <a:off x="822960" y="3291840"/>
            <a:ext cx="10515601" cy="658369"/>
            <a:chOff x="0" y="0"/>
            <a:chExt cx="10515600" cy="658368"/>
          </a:xfrm>
        </p:grpSpPr>
        <p:sp>
          <p:nvSpPr>
            <p:cNvPr id="682" name="Rounded Rectangle"/>
            <p:cNvSpPr/>
            <p:nvPr/>
          </p:nvSpPr>
          <p:spPr>
            <a:xfrm>
              <a:off x="0" y="0"/>
              <a:ext cx="10515600" cy="65836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83" name="Instructions matter — Files and skills make outputs more consistent."/>
            <p:cNvSpPr txBox="1"/>
            <p:nvPr/>
          </p:nvSpPr>
          <p:spPr>
            <a:xfrm>
              <a:off x="63888" y="125984"/>
              <a:ext cx="10387824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Instructions matter — Files and skills make outputs more consistent.</a:t>
              </a:r>
            </a:p>
          </p:txBody>
        </p:sp>
      </p:grpSp>
      <p:grpSp>
        <p:nvGrpSpPr>
          <p:cNvPr id="687" name="Rounded Rectangle 10"/>
          <p:cNvGrpSpPr/>
          <p:nvPr/>
        </p:nvGrpSpPr>
        <p:grpSpPr>
          <a:xfrm>
            <a:off x="822960" y="4160520"/>
            <a:ext cx="10515601" cy="658369"/>
            <a:chOff x="0" y="0"/>
            <a:chExt cx="10515600" cy="658368"/>
          </a:xfrm>
        </p:grpSpPr>
        <p:sp>
          <p:nvSpPr>
            <p:cNvPr id="685" name="Rounded Rectangle"/>
            <p:cNvSpPr/>
            <p:nvPr/>
          </p:nvSpPr>
          <p:spPr>
            <a:xfrm>
              <a:off x="0" y="0"/>
              <a:ext cx="10515600" cy="65836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7C3AED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86" name="Context drives quality — Send the right information at the right time."/>
            <p:cNvSpPr txBox="1"/>
            <p:nvPr/>
          </p:nvSpPr>
          <p:spPr>
            <a:xfrm>
              <a:off x="63888" y="125984"/>
              <a:ext cx="10387824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7C3AED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Context drives quality — Send the right information at the right time.</a:t>
              </a:r>
            </a:p>
          </p:txBody>
        </p:sp>
      </p:grpSp>
      <p:grpSp>
        <p:nvGrpSpPr>
          <p:cNvPr id="690" name="Rounded Rectangle 11"/>
          <p:cNvGrpSpPr/>
          <p:nvPr/>
        </p:nvGrpSpPr>
        <p:grpSpPr>
          <a:xfrm>
            <a:off x="822960" y="5029200"/>
            <a:ext cx="10515601" cy="658369"/>
            <a:chOff x="0" y="0"/>
            <a:chExt cx="10515600" cy="658368"/>
          </a:xfrm>
        </p:grpSpPr>
        <p:sp>
          <p:nvSpPr>
            <p:cNvPr id="688" name="Rounded Rectangle"/>
            <p:cNvSpPr/>
            <p:nvPr/>
          </p:nvSpPr>
          <p:spPr>
            <a:xfrm>
              <a:off x="0" y="0"/>
              <a:ext cx="10515600" cy="658369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A580C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89" name="Cost needs control — Model choice, context size, and retries all matter."/>
            <p:cNvSpPr txBox="1"/>
            <p:nvPr/>
          </p:nvSpPr>
          <p:spPr>
            <a:xfrm>
              <a:off x="63888" y="125984"/>
              <a:ext cx="10387824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>
              <a:lvl1pPr>
                <a:defRPr b="1" sz="1300">
                  <a:solidFill>
                    <a:srgbClr val="EA580C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Cost needs control — Model choice, context size, and retries all matter.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Rectangle 1"/>
          <p:cNvSpPr/>
          <p:nvPr/>
        </p:nvSpPr>
        <p:spPr>
          <a:xfrm>
            <a:off x="-1" y="-1"/>
            <a:ext cx="12191697" cy="164594"/>
          </a:xfrm>
          <a:prstGeom prst="rect">
            <a:avLst/>
          </a:prstGeom>
          <a:solidFill>
            <a:srgbClr val="0F172A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93" name="TextBox 2"/>
          <p:cNvSpPr txBox="1"/>
          <p:nvPr/>
        </p:nvSpPr>
        <p:spPr>
          <a:xfrm>
            <a:off x="594359" y="310895"/>
            <a:ext cx="798425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200">
                <a:solidFill>
                  <a:srgbClr val="2563E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CLOSING</a:t>
            </a:r>
          </a:p>
        </p:txBody>
      </p:sp>
      <p:sp>
        <p:nvSpPr>
          <p:cNvPr id="694" name="TextBox 3"/>
          <p:cNvSpPr txBox="1"/>
          <p:nvPr/>
        </p:nvSpPr>
        <p:spPr>
          <a:xfrm>
            <a:off x="594359" y="566927"/>
            <a:ext cx="9784082" cy="459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400">
                <a:solidFill>
                  <a:srgbClr val="0F172A"/>
                </a:solidFill>
                <a:latin typeface="Aptos Display"/>
                <a:ea typeface="Aptos Display"/>
                <a:cs typeface="Aptos Display"/>
                <a:sym typeface="Aptos Display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695" name="TextBox 4"/>
          <p:cNvSpPr txBox="1"/>
          <p:nvPr/>
        </p:nvSpPr>
        <p:spPr>
          <a:xfrm>
            <a:off x="594360" y="969263"/>
            <a:ext cx="9966961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4B5563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Acknowledgements</a:t>
            </a:r>
          </a:p>
        </p:txBody>
      </p:sp>
      <p:sp>
        <p:nvSpPr>
          <p:cNvPr id="696" name="TextBox 5"/>
          <p:cNvSpPr txBox="1"/>
          <p:nvPr/>
        </p:nvSpPr>
        <p:spPr>
          <a:xfrm>
            <a:off x="594359" y="6446520"/>
            <a:ext cx="1137753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AI Agents Workshop</a:t>
            </a:r>
          </a:p>
        </p:txBody>
      </p:sp>
      <p:sp>
        <p:nvSpPr>
          <p:cNvPr id="697" name="TextBox 6"/>
          <p:cNvSpPr txBox="1"/>
          <p:nvPr/>
        </p:nvSpPr>
        <p:spPr>
          <a:xfrm>
            <a:off x="11202064" y="310895"/>
            <a:ext cx="273657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r">
              <a:defRPr b="1" sz="1200">
                <a:solidFill>
                  <a:srgbClr val="6B7280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pPr/>
            <a:r>
              <a:t>23</a:t>
            </a:r>
          </a:p>
        </p:txBody>
      </p:sp>
      <p:grpSp>
        <p:nvGrpSpPr>
          <p:cNvPr id="700" name="Rounded Rectangle 7"/>
          <p:cNvGrpSpPr/>
          <p:nvPr/>
        </p:nvGrpSpPr>
        <p:grpSpPr>
          <a:xfrm>
            <a:off x="822960" y="1508760"/>
            <a:ext cx="3383280" cy="4251960"/>
            <a:chOff x="0" y="0"/>
            <a:chExt cx="3383279" cy="4251959"/>
          </a:xfrm>
        </p:grpSpPr>
        <p:sp>
          <p:nvSpPr>
            <p:cNvPr id="698" name="Rounded Rectangle"/>
            <p:cNvSpPr/>
            <p:nvPr/>
          </p:nvSpPr>
          <p:spPr>
            <a:xfrm>
              <a:off x="0" y="0"/>
              <a:ext cx="3383280" cy="42519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99" name="Special thanks…"/>
            <p:cNvSpPr txBox="1"/>
            <p:nvPr/>
          </p:nvSpPr>
          <p:spPr>
            <a:xfrm>
              <a:off x="196907" y="1586229"/>
              <a:ext cx="2989466" cy="1079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Special thanks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David McVeigh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Optum / UHC tech leadership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Pauline Coll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Security team</a:t>
              </a:r>
            </a:p>
          </p:txBody>
        </p:sp>
      </p:grpSp>
      <p:grpSp>
        <p:nvGrpSpPr>
          <p:cNvPr id="703" name="Rounded Rectangle 8"/>
          <p:cNvGrpSpPr/>
          <p:nvPr/>
        </p:nvGrpSpPr>
        <p:grpSpPr>
          <a:xfrm>
            <a:off x="4389120" y="1508760"/>
            <a:ext cx="3383280" cy="4251960"/>
            <a:chOff x="0" y="0"/>
            <a:chExt cx="3383279" cy="4251959"/>
          </a:xfrm>
        </p:grpSpPr>
        <p:sp>
          <p:nvSpPr>
            <p:cNvPr id="701" name="Rounded Rectangle"/>
            <p:cNvSpPr/>
            <p:nvPr/>
          </p:nvSpPr>
          <p:spPr>
            <a:xfrm>
              <a:off x="0" y="0"/>
              <a:ext cx="3383280" cy="425196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2700" cap="flat">
              <a:solidFill>
                <a:srgbClr val="E2E8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02" name="With appreciation…"/>
            <p:cNvSpPr txBox="1"/>
            <p:nvPr/>
          </p:nvSpPr>
          <p:spPr>
            <a:xfrm>
              <a:off x="196907" y="1668780"/>
              <a:ext cx="2989466" cy="914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0F172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With appreciation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Health &amp; Safety team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Food &amp; real estate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Volunteers: Zia, Srini &amp; Soundar</a:t>
              </a:r>
            </a:p>
          </p:txBody>
        </p:sp>
      </p:grpSp>
      <p:grpSp>
        <p:nvGrpSpPr>
          <p:cNvPr id="706" name="Rounded Rectangle 9"/>
          <p:cNvGrpSpPr/>
          <p:nvPr/>
        </p:nvGrpSpPr>
        <p:grpSpPr>
          <a:xfrm>
            <a:off x="7955278" y="1508760"/>
            <a:ext cx="3383281" cy="4251960"/>
            <a:chOff x="0" y="0"/>
            <a:chExt cx="3383279" cy="4251959"/>
          </a:xfrm>
        </p:grpSpPr>
        <p:sp>
          <p:nvSpPr>
            <p:cNvPr id="704" name="Rounded Rectangle"/>
            <p:cNvSpPr/>
            <p:nvPr/>
          </p:nvSpPr>
          <p:spPr>
            <a:xfrm>
              <a:off x="0" y="0"/>
              <a:ext cx="3383280" cy="4251960"/>
            </a:xfrm>
            <a:prstGeom prst="roundRect">
              <a:avLst>
                <a:gd name="adj" fmla="val 16667"/>
              </a:avLst>
            </a:prstGeom>
            <a:solidFill>
              <a:srgbClr val="F0FDF4"/>
            </a:solidFill>
            <a:ln w="12700" cap="flat">
              <a:solidFill>
                <a:srgbClr val="16A34A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05" name="And thank you…"/>
            <p:cNvSpPr txBox="1"/>
            <p:nvPr/>
          </p:nvSpPr>
          <p:spPr>
            <a:xfrm>
              <a:off x="196907" y="1586229"/>
              <a:ext cx="2989466" cy="1079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101600" tIns="101600" rIns="101600" bIns="101600" numCol="1" anchor="ctr">
              <a:spAutoFit/>
            </a:bodyPr>
            <a:lstStyle/>
            <a:p>
              <a:pPr>
                <a:defRPr b="1" sz="1400">
                  <a:solidFill>
                    <a:srgbClr val="16A34A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And thank you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Attendees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endParaRPr>
                <a:solidFill>
                  <a:srgbClr val="FFFFFF"/>
                </a:solidFill>
              </a:endParaRPr>
            </a:p>
            <a:p>
              <a:pPr>
                <a:defRPr sz="1100">
                  <a:solidFill>
                    <a:srgbClr val="4B5563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For joining, engaging, and helping make the workshop valuable.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